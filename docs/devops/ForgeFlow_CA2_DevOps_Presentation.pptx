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CA-2 DevOps for ForgeFlow, Group 04. ForgeFlow takes a web-app idea through requirements, design, build, test with self-healing repair, deploy and live validation. This deck covers how ForgeFlow itself is delivered: CI/CD with GitHub Actions, Ansible, Docker and k3s, and Prometheus/Grafana monitoring on an Oracle Cloud VM with 3 OCPU and 16 GB 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GitHub Actions builds a multi-arch image into GHCR and deploys it to the Oracle Ampere VM (3 OCPU, 16 GB) over SSH; Vercel serves the PWA. On the VM nginx terminates TLS and forwards to the Docker Compose production stack: api, two MongoDB instances, the Caddy preview proxy and per-project sandboxes. k3s and the monitoring stack run alongside. Production stays on Compose because sandbox previews are routed by Docker container name, which a Kubernetes pod cannot resolve.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CI runs backend lint, types and 1,648 tests; frontend lint, types, tests, build and PWA check; a sandbox image smoke test; gitleaks and dependency audits; a config guard; and the generated-app skeleton with Playwright. Only if all are green does CD run: it resolves the tested commit, builds arm64 and amd64 images, pushes SHA tags to GHCR, records the running image, deploys over SSH, polls health for up to 150 seconds and rolls back automatically if unhealthy. It then verifies the public HTTPS endpoint and finally deploys the frontend to Vercel.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Challenges. The WebSocket case: we tested the exact request against real nginx with and without the three upgrade lines; without them the handshake silently degrades to 200 OK. Oracle firewalls: the hidden iptables REJECT rule overrides ufw; the Ansible role removes it by specification and purges iptables-persistent. The five smaller bugs were all found by sending real requests or running real queries, not by linting.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Lessons learned. Validation by execution found five bugs no linter caught. Zero downtime is a measured number: 807 requests and zero failures. Every deploy waits on a health signal, which is what makes rollback possible. Dangerous operations such as regenerating the Fernet key are prevented by design, and the automation is additive on a VM that is shared with another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results. Every configuration was executed: actionlint, kubeconform, ansible-lint, promtool, nginx -t, a live WebSocket handshake, the production image, a real k3s rolling update with 807 requests and zero failures, an automatic rollback of a broken release, five of five Prometheus targets up, a provisioned 16-panel dashboard and 1,648 passing backend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Bonus. We entered ForgeFlow in the IBM Bob 2.0 Hackathon on lablab.ai, an online 48-hour event from 25 to 27 September 2026 with a 12,000 dollar prize pool. Team: Faheemuddin Sayyed, Sanidhya Awasthi and Raghav Sonchhatra. Our submission, Forgeflow, turns a web-app idea into a verified live URL with a bounded, diff-aware repair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8600" y="182880"/>
            <a:ext cx="11731752" cy="6492240"/>
          </a:xfrm>
          <a:prstGeom prst="roundRect">
            <a:avLst>
              <a:gd name="adj" fmla="val 3099"/>
            </a:avLst>
          </a:prstGeom>
          <a:solidFill>
            <a:srgbClr val="FFFFFF"/>
          </a:solidFill>
          <a:ln w="22225">
            <a:solidFill>
              <a:srgbClr val="1A1A1A"/>
            </a:solidFill>
            <a:prstDash val="solid"/>
          </a:ln>
        </p:spPr>
      </p:sp>
      <p:pic>
        <p:nvPicPr>
          <p:cNvPr id="3" name="Image 0" descr="/home/user/ForgeFlow/presentation/sit-logo.png">    </p:cNvPr>
          <p:cNvPicPr>
            <a:picLocks noChangeAspect="1"/>
          </p:cNvPicPr>
          <p:nvPr/>
        </p:nvPicPr>
        <p:blipFill>
          <a:blip r:embed="rId1"/>
          <a:stretch>
            <a:fillRect/>
          </a:stretch>
        </p:blipFill>
        <p:spPr>
          <a:xfrm>
            <a:off x="5779008" y="384048"/>
            <a:ext cx="640080" cy="705917"/>
          </a:xfrm>
          <a:prstGeom prst="rect">
            <a:avLst/>
          </a:prstGeom>
        </p:spPr>
      </p:pic>
      <p:sp>
        <p:nvSpPr>
          <p:cNvPr id="4" name="Text 1"/>
          <p:cNvSpPr txBox="1"/>
          <p:nvPr/>
        </p:nvSpPr>
        <p:spPr>
          <a:xfrm>
            <a:off x="548640" y="1170432"/>
            <a:ext cx="11091672" cy="566928"/>
          </a:xfrm>
          <a:prstGeom prst="rect">
            <a:avLst/>
          </a:prstGeom>
          <a:noFill/>
          <a:ln/>
        </p:spPr>
        <p:txBody>
          <a:bodyPr wrap="square" lIns="0" tIns="0" rIns="0" bIns="0" rtlCol="0" anchor="ctr"/>
          <a:lstStyle/>
          <a:p>
            <a:pPr algn="ctr" indent="0" marL="0">
              <a:buNone/>
            </a:pPr>
            <a:r>
              <a:rPr lang="en-US" sz="3200" b="1" dirty="0">
                <a:solidFill>
                  <a:srgbClr val="C4161C"/>
                </a:solidFill>
                <a:latin typeface="Times New Roman" pitchFamily="34" charset="0"/>
                <a:ea typeface="Times New Roman" pitchFamily="34" charset="-122"/>
                <a:cs typeface="Times New Roman" pitchFamily="34" charset="-120"/>
              </a:rPr>
              <a:t>SYMBIOSIS INSTITUTE OF TECHNOLOGY, PUNE</a:t>
            </a:r>
            <a:endParaRPr lang="en-US" sz="3200" dirty="0"/>
          </a:p>
        </p:txBody>
      </p:sp>
      <p:sp>
        <p:nvSpPr>
          <p:cNvPr id="5" name="Text 2"/>
          <p:cNvSpPr txBox="1"/>
          <p:nvPr/>
        </p:nvSpPr>
        <p:spPr>
          <a:xfrm>
            <a:off x="548640" y="1993392"/>
            <a:ext cx="11091672" cy="411480"/>
          </a:xfrm>
          <a:prstGeom prst="rect">
            <a:avLst/>
          </a:prstGeom>
          <a:noFill/>
          <a:ln/>
        </p:spPr>
        <p:txBody>
          <a:bodyPr wrap="square" lIns="0" tIns="0" rIns="0" bIns="0" rtlCol="0" anchor="ctr"/>
          <a:lstStyle/>
          <a:p>
            <a:pPr algn="ctr" indent="0" marL="0">
              <a:buNone/>
            </a:pPr>
            <a:r>
              <a:rPr lang="en-US" sz="2200" b="1" dirty="0">
                <a:solidFill>
                  <a:srgbClr val="1A1A1A"/>
                </a:solidFill>
                <a:latin typeface="Calibri" pitchFamily="34" charset="0"/>
                <a:ea typeface="Calibri" pitchFamily="34" charset="-122"/>
                <a:cs typeface="Calibri" pitchFamily="34" charset="-120"/>
              </a:rPr>
              <a:t>CA 2 — DevOps</a:t>
            </a:r>
            <a:endParaRPr lang="en-US" sz="2200" dirty="0"/>
          </a:p>
        </p:txBody>
      </p:sp>
      <p:sp>
        <p:nvSpPr>
          <p:cNvPr id="6" name="Text 3"/>
          <p:cNvSpPr txBox="1"/>
          <p:nvPr/>
        </p:nvSpPr>
        <p:spPr>
          <a:xfrm>
            <a:off x="2194560" y="2560320"/>
            <a:ext cx="7799832" cy="868680"/>
          </a:xfrm>
          <a:prstGeom prst="rect">
            <a:avLst/>
          </a:prstGeom>
          <a:noFill/>
          <a:ln/>
        </p:spPr>
        <p:txBody>
          <a:bodyPr wrap="square" lIns="0" tIns="0" rIns="0" bIns="0" rtlCol="0" anchor="ctr"/>
          <a:lstStyle/>
          <a:p>
            <a:pPr algn="ctr" indent="0" marL="0">
              <a:buNone/>
            </a:pPr>
            <a:r>
              <a:rPr lang="en-US" sz="2200" b="1" dirty="0">
                <a:solidFill>
                  <a:srgbClr val="1A1A1A"/>
                </a:solidFill>
                <a:latin typeface="Calibri" pitchFamily="34" charset="0"/>
                <a:ea typeface="Calibri" pitchFamily="34" charset="-122"/>
                <a:cs typeface="Calibri" pitchFamily="34" charset="-120"/>
              </a:rPr>
              <a:t>ForgeFlow: An AI-Native End-to-End Software Development Lifecycle Automation Platform</a:t>
            </a:r>
            <a:endParaRPr lang="en-US" sz="2200" dirty="0"/>
          </a:p>
        </p:txBody>
      </p:sp>
      <p:sp>
        <p:nvSpPr>
          <p:cNvPr id="7" name="Text 4"/>
          <p:cNvSpPr txBox="1"/>
          <p:nvPr/>
        </p:nvSpPr>
        <p:spPr>
          <a:xfrm>
            <a:off x="548640" y="3584448"/>
            <a:ext cx="11091672" cy="365760"/>
          </a:xfrm>
          <a:prstGeom prst="rect">
            <a:avLst/>
          </a:prstGeom>
          <a:noFill/>
          <a:ln/>
        </p:spPr>
        <p:txBody>
          <a:bodyPr wrap="square" lIns="0" tIns="0" rIns="0" bIns="0" rtlCol="0" anchor="ctr"/>
          <a:lstStyle/>
          <a:p>
            <a:pPr algn="ctr" indent="0" marL="0">
              <a:buNone/>
            </a:pPr>
            <a:r>
              <a:rPr lang="en-US" sz="1800" dirty="0">
                <a:solidFill>
                  <a:srgbClr val="1A1A1A"/>
                </a:solidFill>
                <a:latin typeface="Calibri" pitchFamily="34" charset="0"/>
                <a:ea typeface="Calibri" pitchFamily="34" charset="-122"/>
                <a:cs typeface="Calibri" pitchFamily="34" charset="-120"/>
              </a:rPr>
              <a:t>Group Number: Group – 04</a:t>
            </a:r>
            <a:endParaRPr lang="en-US" sz="1800" dirty="0"/>
          </a:p>
        </p:txBody>
      </p:sp>
      <p:sp>
        <p:nvSpPr>
          <p:cNvPr id="8" name="Text 5"/>
          <p:cNvSpPr txBox="1"/>
          <p:nvPr/>
        </p:nvSpPr>
        <p:spPr>
          <a:xfrm>
            <a:off x="548640" y="4069080"/>
            <a:ext cx="11091672" cy="960120"/>
          </a:xfrm>
          <a:prstGeom prst="rect">
            <a:avLst/>
          </a:prstGeom>
          <a:noFill/>
          <a:ln/>
        </p:spPr>
        <p:txBody>
          <a:bodyPr wrap="square" lIns="0" tIns="0" rIns="0" bIns="0" rtlCol="0" anchor="t"/>
          <a:lstStyle/>
          <a:p>
            <a:pPr algn="ctr" indent="0" marL="0">
              <a:lnSpc>
                <a:spcPct val="115000"/>
              </a:lnSpc>
              <a:buNone/>
            </a:pPr>
            <a:r>
              <a:rPr lang="en-US" sz="1600" dirty="0">
                <a:solidFill>
                  <a:srgbClr val="1A1A1A"/>
                </a:solidFill>
                <a:latin typeface="Calibri" pitchFamily="34" charset="0"/>
                <a:ea typeface="Calibri" pitchFamily="34" charset="-122"/>
                <a:cs typeface="Calibri" pitchFamily="34" charset="-120"/>
              </a:rPr>
              <a:t>Raghav Sonchhatra – PRN 23070122172</a:t>
            </a:r>
            <a:endParaRPr lang="en-US" sz="1600" dirty="0"/>
          </a:p>
          <a:p>
            <a:pPr algn="ctr" indent="0" marL="0">
              <a:lnSpc>
                <a:spcPct val="115000"/>
              </a:lnSpc>
              <a:buNone/>
            </a:pPr>
            <a:r>
              <a:rPr lang="en-US" sz="1600" dirty="0">
                <a:solidFill>
                  <a:srgbClr val="1A1A1A"/>
                </a:solidFill>
                <a:latin typeface="Calibri" pitchFamily="34" charset="0"/>
                <a:ea typeface="Calibri" pitchFamily="34" charset="-122"/>
                <a:cs typeface="Calibri" pitchFamily="34" charset="-120"/>
              </a:rPr>
              <a:t>Sanidhya Awasthi – PRN 23070122192</a:t>
            </a:r>
            <a:endParaRPr lang="en-US" sz="1600" dirty="0"/>
          </a:p>
          <a:p>
            <a:pPr algn="ctr" indent="0" marL="0">
              <a:lnSpc>
                <a:spcPct val="115000"/>
              </a:lnSpc>
              <a:buNone/>
            </a:pPr>
            <a:r>
              <a:rPr lang="en-US" sz="1600" dirty="0">
                <a:solidFill>
                  <a:srgbClr val="1A1A1A"/>
                </a:solidFill>
                <a:latin typeface="Calibri" pitchFamily="34" charset="0"/>
                <a:ea typeface="Calibri" pitchFamily="34" charset="-122"/>
                <a:cs typeface="Calibri" pitchFamily="34" charset="-120"/>
              </a:rPr>
              <a:t>Faheemuddin Sayyed – PRN 23070122196</a:t>
            </a:r>
            <a:endParaRPr lang="en-US" sz="1600" dirty="0"/>
          </a:p>
        </p:txBody>
      </p:sp>
      <p:sp>
        <p:nvSpPr>
          <p:cNvPr id="9" name="Text 6"/>
          <p:cNvSpPr txBox="1"/>
          <p:nvPr/>
        </p:nvSpPr>
        <p:spPr>
          <a:xfrm>
            <a:off x="548640" y="6144768"/>
            <a:ext cx="11091672" cy="310896"/>
          </a:xfrm>
          <a:prstGeom prst="rect">
            <a:avLst/>
          </a:prstGeom>
          <a:noFill/>
          <a:ln/>
        </p:spPr>
        <p:txBody>
          <a:bodyPr wrap="square" lIns="0" tIns="0" rIns="0" bIns="0" rtlCol="0" anchor="ctr"/>
          <a:lstStyle/>
          <a:p>
            <a:pPr algn="ctr" indent="0" marL="0">
              <a:buNone/>
            </a:pPr>
            <a:r>
              <a:rPr lang="en-US" sz="1200" dirty="0">
                <a:solidFill>
                  <a:srgbClr val="1A1A1A"/>
                </a:solidFill>
                <a:latin typeface="Calibri" pitchFamily="34" charset="0"/>
                <a:ea typeface="Calibri" pitchFamily="34" charset="-122"/>
                <a:cs typeface="Calibri" pitchFamily="34" charset="-120"/>
              </a:rPr>
              <a:t>CA-2 DevOps  |  Department of Computer Engineering  |  Academic Year 2025–26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D"/>
        </a:solidFill>
      </p:bgPr>
    </p:bg>
    <p:spTree>
      <p:nvGrpSpPr>
        <p:cNvPr id="1" name=""/>
        <p:cNvGrpSpPr/>
        <p:nvPr/>
      </p:nvGrpSpPr>
      <p:grpSpPr>
        <a:xfrm>
          <a:off x="0" y="0"/>
          <a:ext cx="0" cy="0"/>
          <a:chOff x="0" y="0"/>
          <a:chExt cx="0" cy="0"/>
        </a:xfrm>
      </p:grpSpPr>
      <p:pic>
        <p:nvPicPr>
          <p:cNvPr id="2" name="Image 0" descr="/tmp/claude-0/-home-user-ForgeFlow/c54c4f28-0214-5817-a71a-61a1132558a0/scratchpad/img/mark.png">    </p:cNvPr>
          <p:cNvPicPr>
            <a:picLocks noChangeAspect="1"/>
          </p:cNvPicPr>
          <p:nvPr/>
        </p:nvPicPr>
        <p:blipFill>
          <a:blip r:embed="rId1"/>
          <a:stretch>
            <a:fillRect/>
          </a:stretch>
        </p:blipFill>
        <p:spPr>
          <a:xfrm>
            <a:off x="548640" y="274320"/>
            <a:ext cx="237744" cy="237744"/>
          </a:xfrm>
          <a:prstGeom prst="rect">
            <a:avLst/>
          </a:prstGeom>
        </p:spPr>
      </p:pic>
      <p:sp>
        <p:nvSpPr>
          <p:cNvPr id="3" name="Text 0"/>
          <p:cNvSpPr txBox="1"/>
          <p:nvPr/>
        </p:nvSpPr>
        <p:spPr>
          <a:xfrm>
            <a:off x="841248" y="256032"/>
            <a:ext cx="4114800" cy="274320"/>
          </a:xfrm>
          <a:prstGeom prst="rect">
            <a:avLst/>
          </a:prstGeom>
          <a:noFill/>
          <a:ln/>
        </p:spPr>
        <p:txBody>
          <a:bodyPr wrap="square" lIns="0" tIns="0" rIns="0" bIns="0" rtlCol="0" anchor="ctr"/>
          <a:lstStyle/>
          <a:p>
            <a:pPr indent="0" marL="0">
              <a:buNone/>
            </a:pPr>
            <a:r>
              <a:rPr lang="en-US" sz="1100" b="1" dirty="0">
                <a:solidFill>
                  <a:srgbClr val="14161C"/>
                </a:solidFill>
                <a:latin typeface="Arial" pitchFamily="34" charset="0"/>
                <a:ea typeface="Arial" pitchFamily="34" charset="-122"/>
                <a:cs typeface="Arial" pitchFamily="34" charset="-120"/>
              </a:rPr>
              <a:t>ForgeFlow</a:t>
            </a:r>
            <a:pPr indent="0" marL="0">
              <a:buNone/>
            </a:pPr>
            <a:r>
              <a:rPr lang="en-US" sz="1100" dirty="0">
                <a:solidFill>
                  <a:srgbClr val="565C6B"/>
                </a:solidFill>
                <a:latin typeface="Arial" pitchFamily="34" charset="0"/>
                <a:ea typeface="Arial" pitchFamily="34" charset="-122"/>
                <a:cs typeface="Arial" pitchFamily="34" charset="-120"/>
              </a:rPr>
              <a:t>   CA-2 DevOps</a:t>
            </a:r>
            <a:endParaRPr lang="en-US" sz="1100" dirty="0"/>
          </a:p>
        </p:txBody>
      </p:sp>
      <p:sp>
        <p:nvSpPr>
          <p:cNvPr id="4" name="Text 1"/>
          <p:cNvSpPr txBox="1"/>
          <p:nvPr/>
        </p:nvSpPr>
        <p:spPr>
          <a:xfrm>
            <a:off x="9811512" y="256032"/>
            <a:ext cx="1828800" cy="274320"/>
          </a:xfrm>
          <a:prstGeom prst="rect">
            <a:avLst/>
          </a:prstGeom>
          <a:noFill/>
          <a:ln/>
        </p:spPr>
        <p:txBody>
          <a:bodyPr wrap="square" lIns="0" tIns="0" rIns="0" bIns="0" rtlCol="0" anchor="ctr"/>
          <a:lstStyle/>
          <a:p>
            <a:pPr algn="r" indent="0" marL="0">
              <a:buNone/>
            </a:pPr>
            <a:r>
              <a:rPr lang="en-US" sz="1000" dirty="0">
                <a:solidFill>
                  <a:srgbClr val="878D9C"/>
                </a:solidFill>
                <a:latin typeface="Courier New" pitchFamily="34" charset="0"/>
                <a:ea typeface="Courier New" pitchFamily="34" charset="-122"/>
                <a:cs typeface="Courier New" pitchFamily="34" charset="-120"/>
              </a:rPr>
              <a:t>02 / 07</a:t>
            </a:r>
            <a:endParaRPr lang="en-US" sz="1000" dirty="0"/>
          </a:p>
        </p:txBody>
      </p:sp>
      <p:sp>
        <p:nvSpPr>
          <p:cNvPr id="5" name="Text 2"/>
          <p:cNvSpPr txBox="1"/>
          <p:nvPr/>
        </p:nvSpPr>
        <p:spPr>
          <a:xfrm>
            <a:off x="548640" y="713232"/>
            <a:ext cx="7315200" cy="256032"/>
          </a:xfrm>
          <a:prstGeom prst="rect">
            <a:avLst/>
          </a:prstGeom>
          <a:noFill/>
          <a:ln/>
        </p:spPr>
        <p:txBody>
          <a:bodyPr wrap="square" lIns="0" tIns="0" rIns="0" bIns="0" rtlCol="0" anchor="ctr"/>
          <a:lstStyle/>
          <a:p>
            <a:pPr indent="0" marL="0">
              <a:buNone/>
            </a:pPr>
            <a:r>
              <a:rPr lang="en-US" sz="1050" b="1" spc="300" kern="0" dirty="0">
                <a:solidFill>
                  <a:srgbClr val="5457E0"/>
                </a:solidFill>
                <a:latin typeface="Arial" pitchFamily="34" charset="0"/>
                <a:ea typeface="Arial" pitchFamily="34" charset="-122"/>
                <a:cs typeface="Arial" pitchFamily="34" charset="-120"/>
              </a:rPr>
              <a:t>DEPLOYMENT ARCHITECTURE</a:t>
            </a:r>
            <a:endParaRPr lang="en-US" sz="1050" dirty="0"/>
          </a:p>
        </p:txBody>
      </p:sp>
      <p:sp>
        <p:nvSpPr>
          <p:cNvPr id="6" name="Text 3"/>
          <p:cNvSpPr txBox="1"/>
          <p:nvPr/>
        </p:nvSpPr>
        <p:spPr>
          <a:xfrm>
            <a:off x="548640" y="969264"/>
            <a:ext cx="11064240" cy="603504"/>
          </a:xfrm>
          <a:prstGeom prst="rect">
            <a:avLst/>
          </a:prstGeom>
          <a:noFill/>
          <a:ln/>
        </p:spPr>
        <p:txBody>
          <a:bodyPr wrap="square" lIns="0" tIns="0" rIns="0" bIns="0" rtlCol="0" anchor="ctr"/>
          <a:lstStyle/>
          <a:p>
            <a:pPr indent="0" marL="0">
              <a:buNone/>
            </a:pPr>
            <a:r>
              <a:rPr lang="en-US" sz="3000" b="1" dirty="0">
                <a:solidFill>
                  <a:srgbClr val="14161C"/>
                </a:solidFill>
                <a:latin typeface="Arial" pitchFamily="34" charset="0"/>
                <a:ea typeface="Arial" pitchFamily="34" charset="-122"/>
                <a:cs typeface="Arial" pitchFamily="34" charset="-120"/>
              </a:rPr>
              <a:t>Two runtimes,</a:t>
            </a:r>
            <a:pPr indent="0" marL="0">
              <a:buNone/>
            </a:pPr>
            <a:r>
              <a:rPr lang="en-US" sz="3000" b="1" dirty="0">
                <a:solidFill>
                  <a:srgbClr val="565C6B"/>
                </a:solidFill>
                <a:latin typeface="Arial" pitchFamily="34" charset="0"/>
                <a:ea typeface="Arial" pitchFamily="34" charset="-122"/>
                <a:cs typeface="Arial" pitchFamily="34" charset="-120"/>
              </a:rPr>
              <a:t> for one specific reason</a:t>
            </a:r>
            <a:endParaRPr lang="en-US" sz="3000" dirty="0"/>
          </a:p>
        </p:txBody>
      </p:sp>
      <p:sp>
        <p:nvSpPr>
          <p:cNvPr id="7" name="Text 4"/>
          <p:cNvSpPr txBox="1"/>
          <p:nvPr/>
        </p:nvSpPr>
        <p:spPr>
          <a:xfrm>
            <a:off x="548640" y="1627632"/>
            <a:ext cx="11064240" cy="457200"/>
          </a:xfrm>
          <a:prstGeom prst="rect">
            <a:avLst/>
          </a:prstGeom>
          <a:noFill/>
          <a:ln/>
        </p:spPr>
        <p:txBody>
          <a:bodyPr wrap="square" lIns="0" tIns="0" rIns="0" bIns="0" rtlCol="0" anchor="t"/>
          <a:lstStyle/>
          <a:p>
            <a:pPr indent="0" marL="0">
              <a:buNone/>
            </a:pPr>
            <a:r>
              <a:rPr lang="en-US" sz="1300" dirty="0">
                <a:solidFill>
                  <a:srgbClr val="565C6B"/>
                </a:solidFill>
                <a:latin typeface="Arial" pitchFamily="34" charset="0"/>
                <a:ea typeface="Arial" pitchFamily="34" charset="-122"/>
                <a:cs typeface="Arial" pitchFamily="34" charset="-120"/>
              </a:rPr>
              <a:t>ForgeFlow runs untrusted generated code in a Docker container per project and routes previews to those containers </a:t>
            </a:r>
            <a:pPr indent="0" marL="0">
              <a:buNone/>
            </a:pPr>
            <a:r>
              <a:rPr lang="en-US" sz="1300" b="1" dirty="0">
                <a:solidFill>
                  <a:srgbClr val="565C6B"/>
                </a:solidFill>
                <a:latin typeface="Arial" pitchFamily="34" charset="0"/>
                <a:ea typeface="Arial" pitchFamily="34" charset="-122"/>
                <a:cs typeface="Arial" pitchFamily="34" charset="-120"/>
              </a:rPr>
              <a:t>by name</a:t>
            </a:r>
            <a:pPr indent="0" marL="0">
              <a:buNone/>
            </a:pPr>
            <a:r>
              <a:rPr lang="en-US" sz="1300" dirty="0">
                <a:solidFill>
                  <a:srgbClr val="565C6B"/>
                </a:solidFill>
                <a:latin typeface="Arial" pitchFamily="34" charset="0"/>
                <a:ea typeface="Arial" pitchFamily="34" charset="-122"/>
                <a:cs typeface="Arial" pitchFamily="34" charset="-120"/>
              </a:rPr>
              <a:t> over Docker’s embedded DNS. That single fact decides the whole topology.</a:t>
            </a:r>
            <a:endParaRPr lang="en-US" sz="1300" dirty="0"/>
          </a:p>
        </p:txBody>
      </p:sp>
      <p:sp>
        <p:nvSpPr>
          <p:cNvPr id="8" name="Shape 5"/>
          <p:cNvSpPr/>
          <p:nvPr/>
        </p:nvSpPr>
        <p:spPr>
          <a:xfrm>
            <a:off x="548640" y="2176272"/>
            <a:ext cx="5852160" cy="3639312"/>
          </a:xfrm>
          <a:prstGeom prst="roundRect">
            <a:avLst>
              <a:gd name="adj" fmla="val 2010"/>
            </a:avLst>
          </a:prstGeom>
          <a:solidFill>
            <a:srgbClr val="FFFFFF"/>
          </a:solidFill>
          <a:ln w="12700">
            <a:solidFill>
              <a:srgbClr val="E2E4EC"/>
            </a:solidFill>
            <a:prstDash val="solid"/>
          </a:ln>
        </p:spPr>
      </p:sp>
      <p:pic>
        <p:nvPicPr>
          <p:cNvPr id="9" name="Image 1" descr="/tmp/claude-0/-home-user-ForgeFlow/c54c4f28-0214-5817-a71a-61a1132558a0/scratchpad/img/arch.png">    </p:cNvPr>
          <p:cNvPicPr>
            <a:picLocks noChangeAspect="1"/>
          </p:cNvPicPr>
          <p:nvPr/>
        </p:nvPicPr>
        <p:blipFill>
          <a:blip r:embed="rId2"/>
          <a:stretch>
            <a:fillRect/>
          </a:stretch>
        </p:blipFill>
        <p:spPr>
          <a:xfrm>
            <a:off x="955213" y="2249424"/>
            <a:ext cx="5039013" cy="3493008"/>
          </a:xfrm>
          <a:prstGeom prst="rect">
            <a:avLst/>
          </a:prstGeom>
        </p:spPr>
      </p:pic>
      <p:sp>
        <p:nvSpPr>
          <p:cNvPr id="10" name="Shape 6"/>
          <p:cNvSpPr/>
          <p:nvPr/>
        </p:nvSpPr>
        <p:spPr>
          <a:xfrm>
            <a:off x="6629400" y="2176272"/>
            <a:ext cx="5010912" cy="1133856"/>
          </a:xfrm>
          <a:prstGeom prst="roundRect">
            <a:avLst>
              <a:gd name="adj" fmla="val 6452"/>
            </a:avLst>
          </a:prstGeom>
          <a:solidFill>
            <a:srgbClr val="FFFFFF"/>
          </a:solidFill>
          <a:ln w="12700">
            <a:solidFill>
              <a:srgbClr val="E2E4EC"/>
            </a:solidFill>
            <a:prstDash val="solid"/>
          </a:ln>
          <a:effectLst>
            <a:outerShdw sx="100000" sy="100000" kx="0" ky="0" algn="bl" rotWithShape="0" blurRad="101600" dist="25400" dir="5400000">
              <a:srgbClr val="14161C">
                <a:alpha val="8000"/>
              </a:srgbClr>
            </a:outerShdw>
          </a:effectLst>
        </p:spPr>
      </p:sp>
      <p:sp>
        <p:nvSpPr>
          <p:cNvPr id="11" name="Text 7"/>
          <p:cNvSpPr txBox="1"/>
          <p:nvPr/>
        </p:nvSpPr>
        <p:spPr>
          <a:xfrm>
            <a:off x="6793992" y="2286000"/>
            <a:ext cx="4681728" cy="329184"/>
          </a:xfrm>
          <a:prstGeom prst="rect">
            <a:avLst/>
          </a:prstGeom>
          <a:noFill/>
          <a:ln/>
        </p:spPr>
        <p:txBody>
          <a:bodyPr wrap="square" lIns="0" tIns="0" rIns="0" bIns="0" rtlCol="0" anchor="t"/>
          <a:lstStyle/>
          <a:p>
            <a:pPr indent="0" marL="0">
              <a:buNone/>
            </a:pPr>
            <a:r>
              <a:rPr lang="en-US" sz="1300" b="1" dirty="0">
                <a:solidFill>
                  <a:srgbClr val="14161C"/>
                </a:solidFill>
                <a:latin typeface="Arial" pitchFamily="34" charset="0"/>
                <a:ea typeface="Arial" pitchFamily="34" charset="-122"/>
                <a:cs typeface="Arial" pitchFamily="34" charset="-120"/>
              </a:rPr>
              <a:t>Why not Kubernetes for production</a:t>
            </a:r>
            <a:endParaRPr lang="en-US" sz="1300" dirty="0"/>
          </a:p>
        </p:txBody>
      </p:sp>
      <p:sp>
        <p:nvSpPr>
          <p:cNvPr id="12" name="Text 8"/>
          <p:cNvSpPr txBox="1"/>
          <p:nvPr/>
        </p:nvSpPr>
        <p:spPr>
          <a:xfrm>
            <a:off x="6793992" y="2670048"/>
            <a:ext cx="4681728" cy="530352"/>
          </a:xfrm>
          <a:prstGeom prst="rect">
            <a:avLst/>
          </a:prstGeom>
          <a:noFill/>
          <a:ln/>
        </p:spPr>
        <p:txBody>
          <a:bodyPr wrap="square" lIns="0" tIns="0" rIns="0" bIns="0" rtlCol="0" anchor="t"/>
          <a:lstStyle/>
          <a:p>
            <a:pPr indent="0" marL="0">
              <a:spcAft>
                <a:spcPts val="400"/>
              </a:spcAft>
              <a:buNone/>
            </a:pPr>
            <a:r>
              <a:rPr lang="en-US" sz="1100" dirty="0">
                <a:solidFill>
                  <a:srgbClr val="565C6B"/>
                </a:solidFill>
                <a:latin typeface="Arial" pitchFamily="34" charset="0"/>
                <a:ea typeface="Arial" pitchFamily="34" charset="-122"/>
                <a:cs typeface="Arial" pitchFamily="34" charset="-120"/>
              </a:rPr>
              <a:t>A Docker socket mounted into a pod solves sandbox </a:t>
            </a:r>
            <a:pPr indent="0" marL="0">
              <a:spcAft>
                <a:spcPts val="400"/>
              </a:spcAft>
              <a:buNone/>
            </a:pPr>
            <a:r>
              <a:rPr lang="en-US" sz="1100" b="1" dirty="0">
                <a:solidFill>
                  <a:srgbClr val="565C6B"/>
                </a:solidFill>
                <a:latin typeface="Arial" pitchFamily="34" charset="0"/>
                <a:ea typeface="Arial" pitchFamily="34" charset="-122"/>
                <a:cs typeface="Arial" pitchFamily="34" charset="-120"/>
              </a:rPr>
              <a:t>creation</a:t>
            </a:r>
            <a:pPr indent="0" marL="0">
              <a:spcAft>
                <a:spcPts val="400"/>
              </a:spcAft>
              <a:buNone/>
            </a:pPr>
            <a:r>
              <a:rPr lang="en-US" sz="1100" dirty="0">
                <a:solidFill>
                  <a:srgbClr val="565C6B"/>
                </a:solidFill>
                <a:latin typeface="Arial" pitchFamily="34" charset="0"/>
                <a:ea typeface="Arial" pitchFamily="34" charset="-122"/>
                <a:cs typeface="Arial" pitchFamily="34" charset="-120"/>
              </a:rPr>
              <a:t>, not </a:t>
            </a:r>
            <a:pPr indent="0" marL="0">
              <a:spcAft>
                <a:spcPts val="400"/>
              </a:spcAft>
              <a:buNone/>
            </a:pPr>
            <a:r>
              <a:rPr lang="en-US" sz="1100" b="1" dirty="0">
                <a:solidFill>
                  <a:srgbClr val="565C6B"/>
                </a:solidFill>
                <a:latin typeface="Arial" pitchFamily="34" charset="0"/>
                <a:ea typeface="Arial" pitchFamily="34" charset="-122"/>
                <a:cs typeface="Arial" pitchFamily="34" charset="-120"/>
              </a:rPr>
              <a:t>routing</a:t>
            </a:r>
            <a:pPr indent="0" marL="0">
              <a:spcAft>
                <a:spcPts val="400"/>
              </a:spcAft>
              <a:buNone/>
            </a:pPr>
            <a:r>
              <a:rPr lang="en-US" sz="1100" dirty="0">
                <a:solidFill>
                  <a:srgbClr val="565C6B"/>
                </a:solidFill>
                <a:latin typeface="Arial" pitchFamily="34" charset="0"/>
                <a:ea typeface="Arial" pitchFamily="34" charset="-122"/>
                <a:cs typeface="Arial" pitchFamily="34" charset="-120"/>
              </a:rPr>
              <a:t>: a pod cannot resolve </a:t>
            </a:r>
            <a:pPr indent="0" marL="0">
              <a:spcAft>
                <a:spcPts val="400"/>
              </a:spcAft>
              <a:buNone/>
            </a:pPr>
            <a:r>
              <a:rPr lang="en-US" sz="1100" dirty="0">
                <a:solidFill>
                  <a:srgbClr val="14161C"/>
                </a:solidFill>
                <a:latin typeface="Courier New" pitchFamily="34" charset="0"/>
                <a:ea typeface="Courier New" pitchFamily="34" charset="-122"/>
                <a:cs typeface="Courier New" pitchFamily="34" charset="-120"/>
              </a:rPr>
              <a:t>forgeflow-sb-&lt;id&gt;</a:t>
            </a:r>
            <a:pPr indent="0" marL="0">
              <a:spcAft>
                <a:spcPts val="400"/>
              </a:spcAft>
              <a:buNone/>
            </a:pPr>
            <a:r>
              <a:rPr lang="en-US" sz="1100" dirty="0">
                <a:solidFill>
                  <a:srgbClr val="565C6B"/>
                </a:solidFill>
                <a:latin typeface="Arial" pitchFamily="34" charset="0"/>
                <a:ea typeface="Arial" pitchFamily="34" charset="-122"/>
                <a:cs typeface="Arial" pitchFamily="34" charset="-120"/>
              </a:rPr>
              <a:t>. Fixing it means changing the app, not the deployment.</a:t>
            </a:r>
            <a:endParaRPr lang="en-US" sz="1100" dirty="0"/>
          </a:p>
        </p:txBody>
      </p:sp>
      <p:sp>
        <p:nvSpPr>
          <p:cNvPr id="13" name="Shape 9"/>
          <p:cNvSpPr/>
          <p:nvPr/>
        </p:nvSpPr>
        <p:spPr>
          <a:xfrm>
            <a:off x="6629400" y="3429000"/>
            <a:ext cx="5010912" cy="1097280"/>
          </a:xfrm>
          <a:prstGeom prst="roundRect">
            <a:avLst>
              <a:gd name="adj" fmla="val 6667"/>
            </a:avLst>
          </a:prstGeom>
          <a:solidFill>
            <a:srgbClr val="FFFFFF"/>
          </a:solidFill>
          <a:ln w="12700">
            <a:solidFill>
              <a:srgbClr val="E2E4EC"/>
            </a:solidFill>
            <a:prstDash val="solid"/>
          </a:ln>
          <a:effectLst>
            <a:outerShdw sx="100000" sy="100000" kx="0" ky="0" algn="bl" rotWithShape="0" blurRad="101600" dist="25400" dir="5400000">
              <a:srgbClr val="14161C">
                <a:alpha val="8000"/>
              </a:srgbClr>
            </a:outerShdw>
          </a:effectLst>
        </p:spPr>
      </p:sp>
      <p:sp>
        <p:nvSpPr>
          <p:cNvPr id="14" name="Text 10"/>
          <p:cNvSpPr txBox="1"/>
          <p:nvPr/>
        </p:nvSpPr>
        <p:spPr>
          <a:xfrm>
            <a:off x="6793992" y="3538728"/>
            <a:ext cx="4681728" cy="329184"/>
          </a:xfrm>
          <a:prstGeom prst="rect">
            <a:avLst/>
          </a:prstGeom>
          <a:noFill/>
          <a:ln/>
        </p:spPr>
        <p:txBody>
          <a:bodyPr wrap="square" lIns="0" tIns="0" rIns="0" bIns="0" rtlCol="0" anchor="t"/>
          <a:lstStyle/>
          <a:p>
            <a:pPr indent="0" marL="0">
              <a:buNone/>
            </a:pPr>
            <a:r>
              <a:rPr lang="en-US" sz="1300" b="1" dirty="0">
                <a:solidFill>
                  <a:srgbClr val="14161C"/>
                </a:solidFill>
                <a:latin typeface="Arial" pitchFamily="34" charset="0"/>
                <a:ea typeface="Arial" pitchFamily="34" charset="-122"/>
                <a:cs typeface="Arial" pitchFamily="34" charset="-120"/>
              </a:rPr>
              <a:t>So the split is deliberate</a:t>
            </a:r>
            <a:endParaRPr lang="en-US" sz="1300" dirty="0"/>
          </a:p>
        </p:txBody>
      </p:sp>
      <p:sp>
        <p:nvSpPr>
          <p:cNvPr id="15" name="Text 11"/>
          <p:cNvSpPr txBox="1"/>
          <p:nvPr/>
        </p:nvSpPr>
        <p:spPr>
          <a:xfrm>
            <a:off x="6793992" y="3922776"/>
            <a:ext cx="4681728" cy="493776"/>
          </a:xfrm>
          <a:prstGeom prst="rect">
            <a:avLst/>
          </a:prstGeom>
          <a:noFill/>
          <a:ln/>
        </p:spPr>
        <p:txBody>
          <a:bodyPr wrap="square" lIns="0" tIns="0" rIns="0" bIns="0" rtlCol="0" anchor="t"/>
          <a:lstStyle/>
          <a:p>
            <a:pPr indent="0" marL="0">
              <a:spcAft>
                <a:spcPts val="400"/>
              </a:spcAft>
              <a:buNone/>
            </a:pPr>
            <a:r>
              <a:rPr lang="en-US" sz="1100" dirty="0">
                <a:solidFill>
                  <a:srgbClr val="565C6B"/>
                </a:solidFill>
                <a:latin typeface="Arial" pitchFamily="34" charset="0"/>
                <a:ea typeface="Arial" pitchFamily="34" charset="-122"/>
                <a:cs typeface="Arial" pitchFamily="34" charset="-120"/>
              </a:rPr>
              <a:t>Compose serves production with every stage working. k3s carries the orchestration deliverable. A failed demo can never take production down.</a:t>
            </a:r>
            <a:endParaRPr lang="en-US" sz="1100" dirty="0"/>
          </a:p>
        </p:txBody>
      </p:sp>
      <p:sp>
        <p:nvSpPr>
          <p:cNvPr id="16" name="Shape 12"/>
          <p:cNvSpPr/>
          <p:nvPr/>
        </p:nvSpPr>
        <p:spPr>
          <a:xfrm>
            <a:off x="6629400" y="4645152"/>
            <a:ext cx="5010912" cy="1170432"/>
          </a:xfrm>
          <a:prstGeom prst="roundRect">
            <a:avLst>
              <a:gd name="adj" fmla="val 6250"/>
            </a:avLst>
          </a:prstGeom>
          <a:solidFill>
            <a:srgbClr val="FFFFFF"/>
          </a:solidFill>
          <a:ln w="12700">
            <a:solidFill>
              <a:srgbClr val="E2E4EC"/>
            </a:solidFill>
            <a:prstDash val="solid"/>
          </a:ln>
          <a:effectLst>
            <a:outerShdw sx="100000" sy="100000" kx="0" ky="0" algn="bl" rotWithShape="0" blurRad="101600" dist="25400" dir="5400000">
              <a:srgbClr val="14161C">
                <a:alpha val="8000"/>
              </a:srgbClr>
            </a:outerShdw>
          </a:effectLst>
        </p:spPr>
      </p:sp>
      <p:sp>
        <p:nvSpPr>
          <p:cNvPr id="17" name="Text 13"/>
          <p:cNvSpPr txBox="1"/>
          <p:nvPr/>
        </p:nvSpPr>
        <p:spPr>
          <a:xfrm>
            <a:off x="6793992" y="4754880"/>
            <a:ext cx="4681728" cy="329184"/>
          </a:xfrm>
          <a:prstGeom prst="rect">
            <a:avLst/>
          </a:prstGeom>
          <a:noFill/>
          <a:ln/>
        </p:spPr>
        <p:txBody>
          <a:bodyPr wrap="square" lIns="0" tIns="0" rIns="0" bIns="0" rtlCol="0" anchor="t"/>
          <a:lstStyle/>
          <a:p>
            <a:pPr indent="0" marL="0">
              <a:buNone/>
            </a:pPr>
            <a:r>
              <a:rPr lang="en-US" sz="1300" b="1" dirty="0">
                <a:solidFill>
                  <a:srgbClr val="14161C"/>
                </a:solidFill>
                <a:latin typeface="Arial" pitchFamily="34" charset="0"/>
                <a:ea typeface="Arial" pitchFamily="34" charset="-122"/>
                <a:cs typeface="Arial" pitchFamily="34" charset="-120"/>
              </a:rPr>
              <a:t>One API replica, on purpose</a:t>
            </a:r>
            <a:endParaRPr lang="en-US" sz="1300" dirty="0"/>
          </a:p>
        </p:txBody>
      </p:sp>
      <p:sp>
        <p:nvSpPr>
          <p:cNvPr id="18" name="Text 14"/>
          <p:cNvSpPr txBox="1"/>
          <p:nvPr/>
        </p:nvSpPr>
        <p:spPr>
          <a:xfrm>
            <a:off x="6793992" y="5138928"/>
            <a:ext cx="4681728" cy="566928"/>
          </a:xfrm>
          <a:prstGeom prst="rect">
            <a:avLst/>
          </a:prstGeom>
          <a:noFill/>
          <a:ln/>
        </p:spPr>
        <p:txBody>
          <a:bodyPr wrap="square" lIns="0" tIns="0" rIns="0" bIns="0" rtlCol="0" anchor="t"/>
          <a:lstStyle/>
          <a:p>
            <a:pPr indent="0" marL="0">
              <a:spcAft>
                <a:spcPts val="400"/>
              </a:spcAft>
              <a:buNone/>
            </a:pPr>
            <a:r>
              <a:rPr lang="en-US" sz="1100" dirty="0">
                <a:solidFill>
                  <a:srgbClr val="565C6B"/>
                </a:solidFill>
                <a:latin typeface="Arial" pitchFamily="34" charset="0"/>
                <a:ea typeface="Arial" pitchFamily="34" charset="-122"/>
                <a:cs typeface="Arial" pitchFamily="34" charset="-120"/>
              </a:rPr>
              <a:t>WebSocket subscribers, the replay ring and rate limiters live in process memory. </a:t>
            </a:r>
            <a:pPr indent="0" marL="0">
              <a:spcAft>
                <a:spcPts val="400"/>
              </a:spcAft>
              <a:buNone/>
            </a:pPr>
            <a:r>
              <a:rPr lang="en-US" sz="1100" dirty="0">
                <a:solidFill>
                  <a:srgbClr val="14161C"/>
                </a:solidFill>
                <a:latin typeface="Courier New" pitchFamily="34" charset="0"/>
                <a:ea typeface="Courier New" pitchFamily="34" charset="-122"/>
                <a:cs typeface="Courier New" pitchFamily="34" charset="-120"/>
              </a:rPr>
              <a:t>--workers 2</a:t>
            </a:r>
            <a:pPr indent="0" marL="0">
              <a:spcAft>
                <a:spcPts val="400"/>
              </a:spcAft>
              <a:buNone/>
            </a:pPr>
            <a:r>
              <a:rPr lang="en-US" sz="1100" dirty="0">
                <a:solidFill>
                  <a:srgbClr val="565C6B"/>
                </a:solidFill>
                <a:latin typeface="Arial" pitchFamily="34" charset="0"/>
                <a:ea typeface="Arial" pitchFamily="34" charset="-122"/>
                <a:cs typeface="Arial" pitchFamily="34" charset="-120"/>
              </a:rPr>
              <a:t> would halve the limits and drop half the subscribers.</a:t>
            </a:r>
            <a:endParaRPr lang="en-US" sz="1100" dirty="0"/>
          </a:p>
        </p:txBody>
      </p:sp>
      <p:sp>
        <p:nvSpPr>
          <p:cNvPr id="19" name="Shape 15"/>
          <p:cNvSpPr/>
          <p:nvPr/>
        </p:nvSpPr>
        <p:spPr>
          <a:xfrm>
            <a:off x="548640" y="5943600"/>
            <a:ext cx="2108606" cy="658368"/>
          </a:xfrm>
          <a:prstGeom prst="roundRect">
            <a:avLst>
              <a:gd name="adj" fmla="val 11111"/>
            </a:avLst>
          </a:prstGeom>
          <a:solidFill>
            <a:srgbClr val="F3F4F8"/>
          </a:solidFill>
          <a:ln w="12700">
            <a:solidFill>
              <a:srgbClr val="E2E4EC"/>
            </a:solidFill>
            <a:prstDash val="solid"/>
          </a:ln>
        </p:spPr>
      </p:sp>
      <p:sp>
        <p:nvSpPr>
          <p:cNvPr id="20" name="Text 16"/>
          <p:cNvSpPr txBox="1"/>
          <p:nvPr/>
        </p:nvSpPr>
        <p:spPr>
          <a:xfrm>
            <a:off x="685800" y="5998464"/>
            <a:ext cx="1834286" cy="219456"/>
          </a:xfrm>
          <a:prstGeom prst="rect">
            <a:avLst/>
          </a:prstGeom>
          <a:noFill/>
          <a:ln/>
        </p:spPr>
        <p:txBody>
          <a:bodyPr wrap="square" lIns="0" tIns="0" rIns="0" bIns="0" rtlCol="0" anchor="ctr"/>
          <a:lstStyle/>
          <a:p>
            <a:pPr indent="0" marL="0">
              <a:buNone/>
            </a:pPr>
            <a:r>
              <a:rPr lang="en-US" sz="900" b="1" spc="200" kern="0" dirty="0">
                <a:solidFill>
                  <a:srgbClr val="878D9C"/>
                </a:solidFill>
                <a:latin typeface="Arial" pitchFamily="34" charset="0"/>
                <a:ea typeface="Arial" pitchFamily="34" charset="-122"/>
                <a:cs typeface="Arial" pitchFamily="34" charset="-120"/>
              </a:rPr>
              <a:t>ORACLE VM</a:t>
            </a:r>
            <a:endParaRPr lang="en-US" sz="900" dirty="0"/>
          </a:p>
        </p:txBody>
      </p:sp>
      <p:sp>
        <p:nvSpPr>
          <p:cNvPr id="21" name="Text 17"/>
          <p:cNvSpPr txBox="1"/>
          <p:nvPr/>
        </p:nvSpPr>
        <p:spPr>
          <a:xfrm>
            <a:off x="685800" y="6236208"/>
            <a:ext cx="1834286" cy="292608"/>
          </a:xfrm>
          <a:prstGeom prst="rect">
            <a:avLst/>
          </a:prstGeom>
          <a:noFill/>
          <a:ln/>
        </p:spPr>
        <p:txBody>
          <a:bodyPr wrap="square" lIns="0" tIns="0" rIns="0" bIns="0" rtlCol="0" anchor="ctr"/>
          <a:lstStyle/>
          <a:p>
            <a:pPr indent="0" marL="0">
              <a:buNone/>
            </a:pPr>
            <a:r>
              <a:rPr lang="en-US" sz="1200" b="1" dirty="0">
                <a:solidFill>
                  <a:srgbClr val="14161C"/>
                </a:solidFill>
                <a:latin typeface="Arial" pitchFamily="34" charset="0"/>
                <a:ea typeface="Arial" pitchFamily="34" charset="-122"/>
                <a:cs typeface="Arial" pitchFamily="34" charset="-120"/>
              </a:rPr>
              <a:t>3 OCPU · 16 GB · arm64</a:t>
            </a:r>
            <a:endParaRPr lang="en-US" sz="1200" dirty="0"/>
          </a:p>
        </p:txBody>
      </p:sp>
      <p:sp>
        <p:nvSpPr>
          <p:cNvPr id="22" name="Shape 18"/>
          <p:cNvSpPr/>
          <p:nvPr/>
        </p:nvSpPr>
        <p:spPr>
          <a:xfrm>
            <a:off x="2794406" y="5943600"/>
            <a:ext cx="2108606" cy="658368"/>
          </a:xfrm>
          <a:prstGeom prst="roundRect">
            <a:avLst>
              <a:gd name="adj" fmla="val 11111"/>
            </a:avLst>
          </a:prstGeom>
          <a:solidFill>
            <a:srgbClr val="F3F4F8"/>
          </a:solidFill>
          <a:ln w="12700">
            <a:solidFill>
              <a:srgbClr val="E2E4EC"/>
            </a:solidFill>
            <a:prstDash val="solid"/>
          </a:ln>
        </p:spPr>
      </p:sp>
      <p:sp>
        <p:nvSpPr>
          <p:cNvPr id="23" name="Text 19"/>
          <p:cNvSpPr txBox="1"/>
          <p:nvPr/>
        </p:nvSpPr>
        <p:spPr>
          <a:xfrm>
            <a:off x="2931566" y="5998464"/>
            <a:ext cx="1834286" cy="219456"/>
          </a:xfrm>
          <a:prstGeom prst="rect">
            <a:avLst/>
          </a:prstGeom>
          <a:noFill/>
          <a:ln/>
        </p:spPr>
        <p:txBody>
          <a:bodyPr wrap="square" lIns="0" tIns="0" rIns="0" bIns="0" rtlCol="0" anchor="ctr"/>
          <a:lstStyle/>
          <a:p>
            <a:pPr indent="0" marL="0">
              <a:buNone/>
            </a:pPr>
            <a:r>
              <a:rPr lang="en-US" sz="900" b="1" spc="200" kern="0" dirty="0">
                <a:solidFill>
                  <a:srgbClr val="878D9C"/>
                </a:solidFill>
                <a:latin typeface="Arial" pitchFamily="34" charset="0"/>
                <a:ea typeface="Arial" pitchFamily="34" charset="-122"/>
                <a:cs typeface="Arial" pitchFamily="34" charset="-120"/>
              </a:rPr>
              <a:t>CONTROL PLANE</a:t>
            </a:r>
            <a:endParaRPr lang="en-US" sz="900" dirty="0"/>
          </a:p>
        </p:txBody>
      </p:sp>
      <p:sp>
        <p:nvSpPr>
          <p:cNvPr id="24" name="Text 20"/>
          <p:cNvSpPr txBox="1"/>
          <p:nvPr/>
        </p:nvSpPr>
        <p:spPr>
          <a:xfrm>
            <a:off x="2931566" y="6236208"/>
            <a:ext cx="1834286" cy="292608"/>
          </a:xfrm>
          <a:prstGeom prst="rect">
            <a:avLst/>
          </a:prstGeom>
          <a:noFill/>
          <a:ln/>
        </p:spPr>
        <p:txBody>
          <a:bodyPr wrap="square" lIns="0" tIns="0" rIns="0" bIns="0" rtlCol="0" anchor="ctr"/>
          <a:lstStyle/>
          <a:p>
            <a:pPr indent="0" marL="0">
              <a:buNone/>
            </a:pPr>
            <a:r>
              <a:rPr lang="en-US" sz="1200" b="1" dirty="0">
                <a:solidFill>
                  <a:srgbClr val="14161C"/>
                </a:solidFill>
                <a:latin typeface="Arial" pitchFamily="34" charset="0"/>
                <a:ea typeface="Arial" pitchFamily="34" charset="-122"/>
                <a:cs typeface="Arial" pitchFamily="34" charset="-120"/>
              </a:rPr>
              <a:t>FastAPI · Python 3.11</a:t>
            </a:r>
            <a:endParaRPr lang="en-US" sz="1200" dirty="0"/>
          </a:p>
        </p:txBody>
      </p:sp>
      <p:sp>
        <p:nvSpPr>
          <p:cNvPr id="25" name="Shape 21"/>
          <p:cNvSpPr/>
          <p:nvPr/>
        </p:nvSpPr>
        <p:spPr>
          <a:xfrm>
            <a:off x="5040173" y="5943600"/>
            <a:ext cx="2108606" cy="658368"/>
          </a:xfrm>
          <a:prstGeom prst="roundRect">
            <a:avLst>
              <a:gd name="adj" fmla="val 11111"/>
            </a:avLst>
          </a:prstGeom>
          <a:solidFill>
            <a:srgbClr val="F3F4F8"/>
          </a:solidFill>
          <a:ln w="12700">
            <a:solidFill>
              <a:srgbClr val="E2E4EC"/>
            </a:solidFill>
            <a:prstDash val="solid"/>
          </a:ln>
        </p:spPr>
      </p:sp>
      <p:sp>
        <p:nvSpPr>
          <p:cNvPr id="26" name="Text 22"/>
          <p:cNvSpPr txBox="1"/>
          <p:nvPr/>
        </p:nvSpPr>
        <p:spPr>
          <a:xfrm>
            <a:off x="5177333" y="5998464"/>
            <a:ext cx="1834286" cy="219456"/>
          </a:xfrm>
          <a:prstGeom prst="rect">
            <a:avLst/>
          </a:prstGeom>
          <a:noFill/>
          <a:ln/>
        </p:spPr>
        <p:txBody>
          <a:bodyPr wrap="square" lIns="0" tIns="0" rIns="0" bIns="0" rtlCol="0" anchor="ctr"/>
          <a:lstStyle/>
          <a:p>
            <a:pPr indent="0" marL="0">
              <a:buNone/>
            </a:pPr>
            <a:r>
              <a:rPr lang="en-US" sz="900" b="1" spc="200" kern="0" dirty="0">
                <a:solidFill>
                  <a:srgbClr val="878D9C"/>
                </a:solidFill>
                <a:latin typeface="Arial" pitchFamily="34" charset="0"/>
                <a:ea typeface="Arial" pitchFamily="34" charset="-122"/>
                <a:cs typeface="Arial" pitchFamily="34" charset="-120"/>
              </a:rPr>
              <a:t>IMAGE</a:t>
            </a:r>
            <a:endParaRPr lang="en-US" sz="900" dirty="0"/>
          </a:p>
        </p:txBody>
      </p:sp>
      <p:sp>
        <p:nvSpPr>
          <p:cNvPr id="27" name="Text 23"/>
          <p:cNvSpPr txBox="1"/>
          <p:nvPr/>
        </p:nvSpPr>
        <p:spPr>
          <a:xfrm>
            <a:off x="5177333" y="6236208"/>
            <a:ext cx="1834286" cy="292608"/>
          </a:xfrm>
          <a:prstGeom prst="rect">
            <a:avLst/>
          </a:prstGeom>
          <a:noFill/>
          <a:ln/>
        </p:spPr>
        <p:txBody>
          <a:bodyPr wrap="square" lIns="0" tIns="0" rIns="0" bIns="0" rtlCol="0" anchor="ctr"/>
          <a:lstStyle/>
          <a:p>
            <a:pPr indent="0" marL="0">
              <a:buNone/>
            </a:pPr>
            <a:r>
              <a:rPr lang="en-US" sz="1200" b="1" dirty="0">
                <a:solidFill>
                  <a:srgbClr val="14161C"/>
                </a:solidFill>
                <a:latin typeface="Arial" pitchFamily="34" charset="0"/>
                <a:ea typeface="Arial" pitchFamily="34" charset="-122"/>
                <a:cs typeface="Arial" pitchFamily="34" charset="-120"/>
              </a:rPr>
              <a:t>multi-arch · non-root</a:t>
            </a:r>
            <a:endParaRPr lang="en-US" sz="1200" dirty="0"/>
          </a:p>
        </p:txBody>
      </p:sp>
      <p:sp>
        <p:nvSpPr>
          <p:cNvPr id="28" name="Shape 24"/>
          <p:cNvSpPr/>
          <p:nvPr/>
        </p:nvSpPr>
        <p:spPr>
          <a:xfrm>
            <a:off x="7285939" y="5943600"/>
            <a:ext cx="2108606" cy="658368"/>
          </a:xfrm>
          <a:prstGeom prst="roundRect">
            <a:avLst>
              <a:gd name="adj" fmla="val 11111"/>
            </a:avLst>
          </a:prstGeom>
          <a:solidFill>
            <a:srgbClr val="F3F4F8"/>
          </a:solidFill>
          <a:ln w="12700">
            <a:solidFill>
              <a:srgbClr val="E2E4EC"/>
            </a:solidFill>
            <a:prstDash val="solid"/>
          </a:ln>
        </p:spPr>
      </p:sp>
      <p:sp>
        <p:nvSpPr>
          <p:cNvPr id="29" name="Text 25"/>
          <p:cNvSpPr txBox="1"/>
          <p:nvPr/>
        </p:nvSpPr>
        <p:spPr>
          <a:xfrm>
            <a:off x="7423099" y="5998464"/>
            <a:ext cx="1834286" cy="219456"/>
          </a:xfrm>
          <a:prstGeom prst="rect">
            <a:avLst/>
          </a:prstGeom>
          <a:noFill/>
          <a:ln/>
        </p:spPr>
        <p:txBody>
          <a:bodyPr wrap="square" lIns="0" tIns="0" rIns="0" bIns="0" rtlCol="0" anchor="ctr"/>
          <a:lstStyle/>
          <a:p>
            <a:pPr indent="0" marL="0">
              <a:buNone/>
            </a:pPr>
            <a:r>
              <a:rPr lang="en-US" sz="900" b="1" spc="200" kern="0" dirty="0">
                <a:solidFill>
                  <a:srgbClr val="878D9C"/>
                </a:solidFill>
                <a:latin typeface="Arial" pitchFamily="34" charset="0"/>
                <a:ea typeface="Arial" pitchFamily="34" charset="-122"/>
                <a:cs typeface="Arial" pitchFamily="34" charset="-120"/>
              </a:rPr>
              <a:t>PROVISIONING</a:t>
            </a:r>
            <a:endParaRPr lang="en-US" sz="900" dirty="0"/>
          </a:p>
        </p:txBody>
      </p:sp>
      <p:sp>
        <p:nvSpPr>
          <p:cNvPr id="30" name="Text 26"/>
          <p:cNvSpPr txBox="1"/>
          <p:nvPr/>
        </p:nvSpPr>
        <p:spPr>
          <a:xfrm>
            <a:off x="7423099" y="6236208"/>
            <a:ext cx="1834286" cy="292608"/>
          </a:xfrm>
          <a:prstGeom prst="rect">
            <a:avLst/>
          </a:prstGeom>
          <a:noFill/>
          <a:ln/>
        </p:spPr>
        <p:txBody>
          <a:bodyPr wrap="square" lIns="0" tIns="0" rIns="0" bIns="0" rtlCol="0" anchor="ctr"/>
          <a:lstStyle/>
          <a:p>
            <a:pPr indent="0" marL="0">
              <a:buNone/>
            </a:pPr>
            <a:r>
              <a:rPr lang="en-US" sz="1200" b="1" dirty="0">
                <a:solidFill>
                  <a:srgbClr val="14161C"/>
                </a:solidFill>
                <a:latin typeface="Arial" pitchFamily="34" charset="0"/>
                <a:ea typeface="Arial" pitchFamily="34" charset="-122"/>
                <a:cs typeface="Arial" pitchFamily="34" charset="-120"/>
              </a:rPr>
              <a:t>Ansible · 7 roles</a:t>
            </a:r>
            <a:endParaRPr lang="en-US" sz="1200" dirty="0"/>
          </a:p>
        </p:txBody>
      </p:sp>
      <p:sp>
        <p:nvSpPr>
          <p:cNvPr id="31" name="Shape 27"/>
          <p:cNvSpPr/>
          <p:nvPr/>
        </p:nvSpPr>
        <p:spPr>
          <a:xfrm>
            <a:off x="9531706" y="5943600"/>
            <a:ext cx="2108606" cy="658368"/>
          </a:xfrm>
          <a:prstGeom prst="roundRect">
            <a:avLst>
              <a:gd name="adj" fmla="val 11111"/>
            </a:avLst>
          </a:prstGeom>
          <a:solidFill>
            <a:srgbClr val="F3F4F8"/>
          </a:solidFill>
          <a:ln w="12700">
            <a:solidFill>
              <a:srgbClr val="E2E4EC"/>
            </a:solidFill>
            <a:prstDash val="solid"/>
          </a:ln>
        </p:spPr>
      </p:sp>
      <p:sp>
        <p:nvSpPr>
          <p:cNvPr id="32" name="Text 28"/>
          <p:cNvSpPr txBox="1"/>
          <p:nvPr/>
        </p:nvSpPr>
        <p:spPr>
          <a:xfrm>
            <a:off x="9668866" y="5998464"/>
            <a:ext cx="1834286" cy="219456"/>
          </a:xfrm>
          <a:prstGeom prst="rect">
            <a:avLst/>
          </a:prstGeom>
          <a:noFill/>
          <a:ln/>
        </p:spPr>
        <p:txBody>
          <a:bodyPr wrap="square" lIns="0" tIns="0" rIns="0" bIns="0" rtlCol="0" anchor="ctr"/>
          <a:lstStyle/>
          <a:p>
            <a:pPr indent="0" marL="0">
              <a:buNone/>
            </a:pPr>
            <a:r>
              <a:rPr lang="en-US" sz="900" b="1" spc="200" kern="0" dirty="0">
                <a:solidFill>
                  <a:srgbClr val="878D9C"/>
                </a:solidFill>
                <a:latin typeface="Arial" pitchFamily="34" charset="0"/>
                <a:ea typeface="Arial" pitchFamily="34" charset="-122"/>
                <a:cs typeface="Arial" pitchFamily="34" charset="-120"/>
              </a:rPr>
              <a:t>INGRESS</a:t>
            </a:r>
            <a:endParaRPr lang="en-US" sz="900" dirty="0"/>
          </a:p>
        </p:txBody>
      </p:sp>
      <p:sp>
        <p:nvSpPr>
          <p:cNvPr id="33" name="Text 29"/>
          <p:cNvSpPr txBox="1"/>
          <p:nvPr/>
        </p:nvSpPr>
        <p:spPr>
          <a:xfrm>
            <a:off x="9668866" y="6236208"/>
            <a:ext cx="1834286" cy="292608"/>
          </a:xfrm>
          <a:prstGeom prst="rect">
            <a:avLst/>
          </a:prstGeom>
          <a:noFill/>
          <a:ln/>
        </p:spPr>
        <p:txBody>
          <a:bodyPr wrap="square" lIns="0" tIns="0" rIns="0" bIns="0" rtlCol="0" anchor="ctr"/>
          <a:lstStyle/>
          <a:p>
            <a:pPr indent="0" marL="0">
              <a:buNone/>
            </a:pPr>
            <a:r>
              <a:rPr lang="en-US" sz="1200" b="1" dirty="0">
                <a:solidFill>
                  <a:srgbClr val="14161C"/>
                </a:solidFill>
                <a:latin typeface="Arial" pitchFamily="34" charset="0"/>
                <a:ea typeface="Arial" pitchFamily="34" charset="-122"/>
                <a:cs typeface="Arial" pitchFamily="34" charset="-120"/>
              </a:rPr>
              <a:t>nginx → 127.0.0.1:8000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D"/>
        </a:solidFill>
      </p:bgPr>
    </p:bg>
    <p:spTree>
      <p:nvGrpSpPr>
        <p:cNvPr id="1" name=""/>
        <p:cNvGrpSpPr/>
        <p:nvPr/>
      </p:nvGrpSpPr>
      <p:grpSpPr>
        <a:xfrm>
          <a:off x="0" y="0"/>
          <a:ext cx="0" cy="0"/>
          <a:chOff x="0" y="0"/>
          <a:chExt cx="0" cy="0"/>
        </a:xfrm>
      </p:grpSpPr>
      <p:pic>
        <p:nvPicPr>
          <p:cNvPr id="2" name="Image 0" descr="/tmp/claude-0/-home-user-ForgeFlow/c54c4f28-0214-5817-a71a-61a1132558a0/scratchpad/img/mark.png">    </p:cNvPr>
          <p:cNvPicPr>
            <a:picLocks noChangeAspect="1"/>
          </p:cNvPicPr>
          <p:nvPr/>
        </p:nvPicPr>
        <p:blipFill>
          <a:blip r:embed="rId1"/>
          <a:stretch>
            <a:fillRect/>
          </a:stretch>
        </p:blipFill>
        <p:spPr>
          <a:xfrm>
            <a:off x="548640" y="274320"/>
            <a:ext cx="237744" cy="237744"/>
          </a:xfrm>
          <a:prstGeom prst="rect">
            <a:avLst/>
          </a:prstGeom>
        </p:spPr>
      </p:pic>
      <p:sp>
        <p:nvSpPr>
          <p:cNvPr id="3" name="Text 0"/>
          <p:cNvSpPr txBox="1"/>
          <p:nvPr/>
        </p:nvSpPr>
        <p:spPr>
          <a:xfrm>
            <a:off x="841248" y="256032"/>
            <a:ext cx="4114800" cy="274320"/>
          </a:xfrm>
          <a:prstGeom prst="rect">
            <a:avLst/>
          </a:prstGeom>
          <a:noFill/>
          <a:ln/>
        </p:spPr>
        <p:txBody>
          <a:bodyPr wrap="square" lIns="0" tIns="0" rIns="0" bIns="0" rtlCol="0" anchor="ctr"/>
          <a:lstStyle/>
          <a:p>
            <a:pPr indent="0" marL="0">
              <a:buNone/>
            </a:pPr>
            <a:r>
              <a:rPr lang="en-US" sz="1100" b="1" dirty="0">
                <a:solidFill>
                  <a:srgbClr val="14161C"/>
                </a:solidFill>
                <a:latin typeface="Arial" pitchFamily="34" charset="0"/>
                <a:ea typeface="Arial" pitchFamily="34" charset="-122"/>
                <a:cs typeface="Arial" pitchFamily="34" charset="-120"/>
              </a:rPr>
              <a:t>ForgeFlow</a:t>
            </a:r>
            <a:pPr indent="0" marL="0">
              <a:buNone/>
            </a:pPr>
            <a:r>
              <a:rPr lang="en-US" sz="1100" dirty="0">
                <a:solidFill>
                  <a:srgbClr val="565C6B"/>
                </a:solidFill>
                <a:latin typeface="Arial" pitchFamily="34" charset="0"/>
                <a:ea typeface="Arial" pitchFamily="34" charset="-122"/>
                <a:cs typeface="Arial" pitchFamily="34" charset="-120"/>
              </a:rPr>
              <a:t>   CA-2 DevOps</a:t>
            </a:r>
            <a:endParaRPr lang="en-US" sz="1100" dirty="0"/>
          </a:p>
        </p:txBody>
      </p:sp>
      <p:sp>
        <p:nvSpPr>
          <p:cNvPr id="4" name="Text 1"/>
          <p:cNvSpPr txBox="1"/>
          <p:nvPr/>
        </p:nvSpPr>
        <p:spPr>
          <a:xfrm>
            <a:off x="9811512" y="256032"/>
            <a:ext cx="1828800" cy="274320"/>
          </a:xfrm>
          <a:prstGeom prst="rect">
            <a:avLst/>
          </a:prstGeom>
          <a:noFill/>
          <a:ln/>
        </p:spPr>
        <p:txBody>
          <a:bodyPr wrap="square" lIns="0" tIns="0" rIns="0" bIns="0" rtlCol="0" anchor="ctr"/>
          <a:lstStyle/>
          <a:p>
            <a:pPr algn="r" indent="0" marL="0">
              <a:buNone/>
            </a:pPr>
            <a:r>
              <a:rPr lang="en-US" sz="1000" dirty="0">
                <a:solidFill>
                  <a:srgbClr val="878D9C"/>
                </a:solidFill>
                <a:latin typeface="Courier New" pitchFamily="34" charset="0"/>
                <a:ea typeface="Courier New" pitchFamily="34" charset="-122"/>
                <a:cs typeface="Courier New" pitchFamily="34" charset="-120"/>
              </a:rPr>
              <a:t>03 / 07</a:t>
            </a:r>
            <a:endParaRPr lang="en-US" sz="1000" dirty="0"/>
          </a:p>
        </p:txBody>
      </p:sp>
      <p:sp>
        <p:nvSpPr>
          <p:cNvPr id="5" name="Text 2"/>
          <p:cNvSpPr txBox="1"/>
          <p:nvPr/>
        </p:nvSpPr>
        <p:spPr>
          <a:xfrm>
            <a:off x="548640" y="713232"/>
            <a:ext cx="7315200" cy="256032"/>
          </a:xfrm>
          <a:prstGeom prst="rect">
            <a:avLst/>
          </a:prstGeom>
          <a:noFill/>
          <a:ln/>
        </p:spPr>
        <p:txBody>
          <a:bodyPr wrap="square" lIns="0" tIns="0" rIns="0" bIns="0" rtlCol="0" anchor="ctr"/>
          <a:lstStyle/>
          <a:p>
            <a:pPr indent="0" marL="0">
              <a:buNone/>
            </a:pPr>
            <a:r>
              <a:rPr lang="en-US" sz="1050" b="1" spc="300" kern="0" dirty="0">
                <a:solidFill>
                  <a:srgbClr val="5457E0"/>
                </a:solidFill>
                <a:latin typeface="Arial" pitchFamily="34" charset="0"/>
                <a:ea typeface="Arial" pitchFamily="34" charset="-122"/>
                <a:cs typeface="Arial" pitchFamily="34" charset="-120"/>
              </a:rPr>
              <a:t>PIPELINE FLOW</a:t>
            </a:r>
            <a:endParaRPr lang="en-US" sz="1050" dirty="0"/>
          </a:p>
        </p:txBody>
      </p:sp>
      <p:sp>
        <p:nvSpPr>
          <p:cNvPr id="6" name="Text 3"/>
          <p:cNvSpPr txBox="1"/>
          <p:nvPr/>
        </p:nvSpPr>
        <p:spPr>
          <a:xfrm>
            <a:off x="548640" y="969264"/>
            <a:ext cx="11064240" cy="603504"/>
          </a:xfrm>
          <a:prstGeom prst="rect">
            <a:avLst/>
          </a:prstGeom>
          <a:noFill/>
          <a:ln/>
        </p:spPr>
        <p:txBody>
          <a:bodyPr wrap="square" lIns="0" tIns="0" rIns="0" bIns="0" rtlCol="0" anchor="ctr"/>
          <a:lstStyle/>
          <a:p>
            <a:pPr indent="0" marL="0">
              <a:buNone/>
            </a:pPr>
            <a:r>
              <a:rPr lang="en-US" sz="3000" b="1" dirty="0">
                <a:solidFill>
                  <a:srgbClr val="14161C"/>
                </a:solidFill>
                <a:latin typeface="Arial" pitchFamily="34" charset="0"/>
                <a:ea typeface="Arial" pitchFamily="34" charset="-122"/>
                <a:cs typeface="Arial" pitchFamily="34" charset="-120"/>
              </a:rPr>
              <a:t>CI proves it.</a:t>
            </a:r>
            <a:pPr indent="0" marL="0">
              <a:buNone/>
            </a:pPr>
            <a:r>
              <a:rPr lang="en-US" sz="3000" b="1" dirty="0">
                <a:solidFill>
                  <a:srgbClr val="565C6B"/>
                </a:solidFill>
                <a:latin typeface="Arial" pitchFamily="34" charset="0"/>
                <a:ea typeface="Arial" pitchFamily="34" charset="-122"/>
                <a:cs typeface="Arial" pitchFamily="34" charset="-120"/>
              </a:rPr>
              <a:t> CD ships it — or puts it back.</a:t>
            </a:r>
            <a:endParaRPr lang="en-US" sz="3000" dirty="0"/>
          </a:p>
        </p:txBody>
      </p:sp>
      <p:sp>
        <p:nvSpPr>
          <p:cNvPr id="7" name="Shape 4"/>
          <p:cNvSpPr/>
          <p:nvPr/>
        </p:nvSpPr>
        <p:spPr>
          <a:xfrm>
            <a:off x="548640" y="1783080"/>
            <a:ext cx="7635240" cy="3886200"/>
          </a:xfrm>
          <a:prstGeom prst="roundRect">
            <a:avLst>
              <a:gd name="adj" fmla="val 1882"/>
            </a:avLst>
          </a:prstGeom>
          <a:solidFill>
            <a:srgbClr val="FFFFFF"/>
          </a:solidFill>
          <a:ln w="12700">
            <a:solidFill>
              <a:srgbClr val="E2E4EC"/>
            </a:solidFill>
            <a:prstDash val="solid"/>
          </a:ln>
        </p:spPr>
      </p:sp>
      <p:pic>
        <p:nvPicPr>
          <p:cNvPr id="8" name="Image 1" descr="/tmp/claude-0/-home-user-ForgeFlow/c54c4f28-0214-5817-a71a-61a1132558a0/scratchpad/img/pipeline.png">    </p:cNvPr>
          <p:cNvPicPr>
            <a:picLocks noChangeAspect="1"/>
          </p:cNvPicPr>
          <p:nvPr/>
        </p:nvPicPr>
        <p:blipFill>
          <a:blip r:embed="rId2"/>
          <a:stretch>
            <a:fillRect/>
          </a:stretch>
        </p:blipFill>
        <p:spPr>
          <a:xfrm>
            <a:off x="685800" y="2057113"/>
            <a:ext cx="7360920" cy="3338134"/>
          </a:xfrm>
          <a:prstGeom prst="rect">
            <a:avLst/>
          </a:prstGeom>
        </p:spPr>
      </p:pic>
      <p:sp>
        <p:nvSpPr>
          <p:cNvPr id="9" name="Text 5"/>
          <p:cNvSpPr txBox="1"/>
          <p:nvPr/>
        </p:nvSpPr>
        <p:spPr>
          <a:xfrm>
            <a:off x="548640" y="5806440"/>
            <a:ext cx="7635240" cy="274320"/>
          </a:xfrm>
          <a:prstGeom prst="rect">
            <a:avLst/>
          </a:prstGeom>
          <a:noFill/>
          <a:ln/>
        </p:spPr>
        <p:txBody>
          <a:bodyPr wrap="square" lIns="0" tIns="0" rIns="0" bIns="0" rtlCol="0" anchor="ctr"/>
          <a:lstStyle/>
          <a:p>
            <a:pPr algn="ctr" indent="0" marL="0">
              <a:buNone/>
            </a:pPr>
            <a:r>
              <a:rPr lang="en-US" sz="1100" dirty="0">
                <a:solidFill>
                  <a:srgbClr val="565C6B"/>
                </a:solidFill>
                <a:latin typeface="Arial" pitchFamily="34" charset="0"/>
                <a:ea typeface="Arial" pitchFamily="34" charset="-122"/>
                <a:cs typeface="Arial" pitchFamily="34" charset="-120"/>
              </a:rPr>
              <a:t>Six CI jobs on every push · CD only after CI is green · frontend ships last</a:t>
            </a:r>
            <a:endParaRPr lang="en-US" sz="1100" dirty="0"/>
          </a:p>
        </p:txBody>
      </p:sp>
      <p:sp>
        <p:nvSpPr>
          <p:cNvPr id="10" name="Shape 6"/>
          <p:cNvSpPr/>
          <p:nvPr/>
        </p:nvSpPr>
        <p:spPr>
          <a:xfrm>
            <a:off x="8412480" y="1783080"/>
            <a:ext cx="3227832" cy="1097280"/>
          </a:xfrm>
          <a:prstGeom prst="roundRect">
            <a:avLst>
              <a:gd name="adj" fmla="val 6667"/>
            </a:avLst>
          </a:prstGeom>
          <a:solidFill>
            <a:srgbClr val="FFFFFF"/>
          </a:solidFill>
          <a:ln w="12700">
            <a:solidFill>
              <a:srgbClr val="E2E4EC"/>
            </a:solidFill>
            <a:prstDash val="solid"/>
          </a:ln>
          <a:effectLst>
            <a:outerShdw sx="100000" sy="100000" kx="0" ky="0" algn="bl" rotWithShape="0" blurRad="101600" dist="25400" dir="5400000">
              <a:srgbClr val="14161C">
                <a:alpha val="8000"/>
              </a:srgbClr>
            </a:outerShdw>
          </a:effectLst>
        </p:spPr>
      </p:sp>
      <p:sp>
        <p:nvSpPr>
          <p:cNvPr id="11" name="Text 7"/>
          <p:cNvSpPr txBox="1"/>
          <p:nvPr/>
        </p:nvSpPr>
        <p:spPr>
          <a:xfrm>
            <a:off x="8577072" y="1892808"/>
            <a:ext cx="2898648" cy="329184"/>
          </a:xfrm>
          <a:prstGeom prst="rect">
            <a:avLst/>
          </a:prstGeom>
          <a:noFill/>
          <a:ln/>
        </p:spPr>
        <p:txBody>
          <a:bodyPr wrap="square" lIns="0" tIns="0" rIns="0" bIns="0" rtlCol="0" anchor="t"/>
          <a:lstStyle/>
          <a:p>
            <a:pPr indent="0" marL="0">
              <a:buNone/>
            </a:pPr>
            <a:r>
              <a:rPr lang="en-US" sz="1200" b="1" dirty="0">
                <a:solidFill>
                  <a:srgbClr val="14161C"/>
                </a:solidFill>
                <a:latin typeface="Courier New" pitchFamily="34" charset="0"/>
                <a:ea typeface="Courier New" pitchFamily="34" charset="-122"/>
                <a:cs typeface="Courier New" pitchFamily="34" charset="-120"/>
              </a:rPr>
              <a:t>workflow_run</a:t>
            </a:r>
            <a:pPr indent="0" marL="0">
              <a:buNone/>
            </a:pPr>
            <a:r>
              <a:rPr lang="en-US" sz="1200" b="1" dirty="0">
                <a:solidFill>
                  <a:srgbClr val="14161C"/>
                </a:solidFill>
                <a:latin typeface="Arial" pitchFamily="34" charset="0"/>
                <a:ea typeface="Arial" pitchFamily="34" charset="-122"/>
                <a:cs typeface="Arial" pitchFamily="34" charset="-120"/>
              </a:rPr>
              <a:t>, not </a:t>
            </a:r>
            <a:pPr indent="0" marL="0">
              <a:buNone/>
            </a:pPr>
            <a:r>
              <a:rPr lang="en-US" sz="1200" b="1" dirty="0">
                <a:solidFill>
                  <a:srgbClr val="14161C"/>
                </a:solidFill>
                <a:latin typeface="Courier New" pitchFamily="34" charset="0"/>
                <a:ea typeface="Courier New" pitchFamily="34" charset="-122"/>
                <a:cs typeface="Courier New" pitchFamily="34" charset="-120"/>
              </a:rPr>
              <a:t>push</a:t>
            </a:r>
            <a:endParaRPr lang="en-US" sz="1200" dirty="0"/>
          </a:p>
        </p:txBody>
      </p:sp>
      <p:sp>
        <p:nvSpPr>
          <p:cNvPr id="12" name="Text 8"/>
          <p:cNvSpPr txBox="1"/>
          <p:nvPr/>
        </p:nvSpPr>
        <p:spPr>
          <a:xfrm>
            <a:off x="8577072" y="2276856"/>
            <a:ext cx="2898648" cy="493776"/>
          </a:xfrm>
          <a:prstGeom prst="rect">
            <a:avLst/>
          </a:prstGeom>
          <a:noFill/>
          <a:ln/>
        </p:spPr>
        <p:txBody>
          <a:bodyPr wrap="square" lIns="0" tIns="0" rIns="0" bIns="0" rtlCol="0" anchor="t"/>
          <a:lstStyle/>
          <a:p>
            <a:pPr indent="0" marL="0">
              <a:spcAft>
                <a:spcPts val="400"/>
              </a:spcAft>
              <a:buNone/>
            </a:pPr>
            <a:r>
              <a:rPr lang="en-US" sz="1050" dirty="0">
                <a:solidFill>
                  <a:srgbClr val="565C6B"/>
                </a:solidFill>
                <a:latin typeface="Arial" pitchFamily="34" charset="0"/>
                <a:ea typeface="Arial" pitchFamily="34" charset="-122"/>
                <a:cs typeface="Arial" pitchFamily="34" charset="-120"/>
              </a:rPr>
              <a:t>A push-triggered deploy races CI and can serve traffic while the test that would fail it is still running.</a:t>
            </a:r>
            <a:endParaRPr lang="en-US" sz="1050" dirty="0"/>
          </a:p>
        </p:txBody>
      </p:sp>
      <p:sp>
        <p:nvSpPr>
          <p:cNvPr id="13" name="Shape 9"/>
          <p:cNvSpPr/>
          <p:nvPr/>
        </p:nvSpPr>
        <p:spPr>
          <a:xfrm>
            <a:off x="8412480" y="2999232"/>
            <a:ext cx="3227832" cy="1097280"/>
          </a:xfrm>
          <a:prstGeom prst="roundRect">
            <a:avLst>
              <a:gd name="adj" fmla="val 6667"/>
            </a:avLst>
          </a:prstGeom>
          <a:solidFill>
            <a:srgbClr val="FFFFFF"/>
          </a:solidFill>
          <a:ln w="12700">
            <a:solidFill>
              <a:srgbClr val="E2E4EC"/>
            </a:solidFill>
            <a:prstDash val="solid"/>
          </a:ln>
          <a:effectLst>
            <a:outerShdw sx="100000" sy="100000" kx="0" ky="0" algn="bl" rotWithShape="0" blurRad="101600" dist="25400" dir="5400000">
              <a:srgbClr val="14161C">
                <a:alpha val="8000"/>
              </a:srgbClr>
            </a:outerShdw>
          </a:effectLst>
        </p:spPr>
      </p:sp>
      <p:sp>
        <p:nvSpPr>
          <p:cNvPr id="14" name="Text 10"/>
          <p:cNvSpPr txBox="1"/>
          <p:nvPr/>
        </p:nvSpPr>
        <p:spPr>
          <a:xfrm>
            <a:off x="8577072" y="3108960"/>
            <a:ext cx="2898648" cy="329184"/>
          </a:xfrm>
          <a:prstGeom prst="rect">
            <a:avLst/>
          </a:prstGeom>
          <a:noFill/>
          <a:ln/>
        </p:spPr>
        <p:txBody>
          <a:bodyPr wrap="square" lIns="0" tIns="0" rIns="0" bIns="0" rtlCol="0" anchor="t"/>
          <a:lstStyle/>
          <a:p>
            <a:pPr indent="0" marL="0">
              <a:buNone/>
            </a:pPr>
            <a:r>
              <a:rPr lang="en-US" sz="1200" b="1" dirty="0">
                <a:solidFill>
                  <a:srgbClr val="14161C"/>
                </a:solidFill>
                <a:latin typeface="Arial" pitchFamily="34" charset="0"/>
                <a:ea typeface="Arial" pitchFamily="34" charset="-122"/>
                <a:cs typeface="Arial" pitchFamily="34" charset="-120"/>
              </a:rPr>
              <a:t>Immutable SHA tags</a:t>
            </a:r>
            <a:endParaRPr lang="en-US" sz="1200" dirty="0"/>
          </a:p>
        </p:txBody>
      </p:sp>
      <p:sp>
        <p:nvSpPr>
          <p:cNvPr id="15" name="Text 11"/>
          <p:cNvSpPr txBox="1"/>
          <p:nvPr/>
        </p:nvSpPr>
        <p:spPr>
          <a:xfrm>
            <a:off x="8577072" y="3493008"/>
            <a:ext cx="2898648" cy="493776"/>
          </a:xfrm>
          <a:prstGeom prst="rect">
            <a:avLst/>
          </a:prstGeom>
          <a:noFill/>
          <a:ln/>
        </p:spPr>
        <p:txBody>
          <a:bodyPr wrap="square" lIns="0" tIns="0" rIns="0" bIns="0" rtlCol="0" anchor="t"/>
          <a:lstStyle/>
          <a:p>
            <a:pPr indent="0" marL="0">
              <a:spcAft>
                <a:spcPts val="400"/>
              </a:spcAft>
              <a:buNone/>
            </a:pPr>
            <a:r>
              <a:rPr lang="en-US" sz="1050" dirty="0">
                <a:solidFill>
                  <a:srgbClr val="565C6B"/>
                </a:solidFill>
                <a:latin typeface="Arial" pitchFamily="34" charset="0"/>
                <a:ea typeface="Arial" pitchFamily="34" charset="-122"/>
                <a:cs typeface="Arial" pitchFamily="34" charset="-120"/>
              </a:rPr>
              <a:t>If the VM tracked </a:t>
            </a:r>
            <a:pPr indent="0" marL="0">
              <a:spcAft>
                <a:spcPts val="400"/>
              </a:spcAft>
              <a:buNone/>
            </a:pPr>
            <a:r>
              <a:rPr lang="en-US" sz="1050" dirty="0">
                <a:solidFill>
                  <a:srgbClr val="14161C"/>
                </a:solidFill>
                <a:latin typeface="Courier New" pitchFamily="34" charset="0"/>
                <a:ea typeface="Courier New" pitchFamily="34" charset="-122"/>
                <a:cs typeface="Courier New" pitchFamily="34" charset="-120"/>
              </a:rPr>
              <a:t>latest</a:t>
            </a:r>
            <a:pPr indent="0" marL="0">
              <a:spcAft>
                <a:spcPts val="400"/>
              </a:spcAft>
              <a:buNone/>
            </a:pPr>
            <a:r>
              <a:rPr lang="en-US" sz="1050" dirty="0">
                <a:solidFill>
                  <a:srgbClr val="565C6B"/>
                </a:solidFill>
                <a:latin typeface="Arial" pitchFamily="34" charset="0"/>
                <a:ea typeface="Arial" pitchFamily="34" charset="-122"/>
                <a:cs typeface="Arial" pitchFamily="34" charset="-120"/>
              </a:rPr>
              <a:t>, rolling back after a bad deploy would roll back to the bad deploy.</a:t>
            </a:r>
            <a:endParaRPr lang="en-US" sz="1050" dirty="0"/>
          </a:p>
        </p:txBody>
      </p:sp>
      <p:sp>
        <p:nvSpPr>
          <p:cNvPr id="16" name="Shape 12"/>
          <p:cNvSpPr/>
          <p:nvPr/>
        </p:nvSpPr>
        <p:spPr>
          <a:xfrm>
            <a:off x="8412480" y="4215384"/>
            <a:ext cx="3227832" cy="1097280"/>
          </a:xfrm>
          <a:prstGeom prst="roundRect">
            <a:avLst>
              <a:gd name="adj" fmla="val 6667"/>
            </a:avLst>
          </a:prstGeom>
          <a:solidFill>
            <a:srgbClr val="FFFFFF"/>
          </a:solidFill>
          <a:ln w="12700">
            <a:solidFill>
              <a:srgbClr val="E2E4EC"/>
            </a:solidFill>
            <a:prstDash val="solid"/>
          </a:ln>
          <a:effectLst>
            <a:outerShdw sx="100000" sy="100000" kx="0" ky="0" algn="bl" rotWithShape="0" blurRad="101600" dist="25400" dir="5400000">
              <a:srgbClr val="14161C">
                <a:alpha val="8000"/>
              </a:srgbClr>
            </a:outerShdw>
          </a:effectLst>
        </p:spPr>
      </p:sp>
      <p:sp>
        <p:nvSpPr>
          <p:cNvPr id="17" name="Text 13"/>
          <p:cNvSpPr txBox="1"/>
          <p:nvPr/>
        </p:nvSpPr>
        <p:spPr>
          <a:xfrm>
            <a:off x="8577072" y="4325112"/>
            <a:ext cx="2898648" cy="329184"/>
          </a:xfrm>
          <a:prstGeom prst="rect">
            <a:avLst/>
          </a:prstGeom>
          <a:noFill/>
          <a:ln/>
        </p:spPr>
        <p:txBody>
          <a:bodyPr wrap="square" lIns="0" tIns="0" rIns="0" bIns="0" rtlCol="0" anchor="t"/>
          <a:lstStyle/>
          <a:p>
            <a:pPr indent="0" marL="0">
              <a:buNone/>
            </a:pPr>
            <a:r>
              <a:rPr lang="en-US" sz="1200" b="1" dirty="0">
                <a:solidFill>
                  <a:srgbClr val="14161C"/>
                </a:solidFill>
                <a:latin typeface="Arial" pitchFamily="34" charset="0"/>
                <a:ea typeface="Arial" pitchFamily="34" charset="-122"/>
                <a:cs typeface="Arial" pitchFamily="34" charset="-120"/>
              </a:rPr>
              <a:t>Health is polled, not slept on</a:t>
            </a:r>
            <a:endParaRPr lang="en-US" sz="1200" dirty="0"/>
          </a:p>
        </p:txBody>
      </p:sp>
      <p:sp>
        <p:nvSpPr>
          <p:cNvPr id="18" name="Text 14"/>
          <p:cNvSpPr txBox="1"/>
          <p:nvPr/>
        </p:nvSpPr>
        <p:spPr>
          <a:xfrm>
            <a:off x="8577072" y="4709160"/>
            <a:ext cx="2898648" cy="493776"/>
          </a:xfrm>
          <a:prstGeom prst="rect">
            <a:avLst/>
          </a:prstGeom>
          <a:noFill/>
          <a:ln/>
        </p:spPr>
        <p:txBody>
          <a:bodyPr wrap="square" lIns="0" tIns="0" rIns="0" bIns="0" rtlCol="0" anchor="t"/>
          <a:lstStyle/>
          <a:p>
            <a:pPr indent="0" marL="0">
              <a:spcAft>
                <a:spcPts val="400"/>
              </a:spcAft>
              <a:buNone/>
            </a:pPr>
            <a:r>
              <a:rPr lang="en-US" sz="1050" dirty="0">
                <a:solidFill>
                  <a:srgbClr val="565C6B"/>
                </a:solidFill>
                <a:latin typeface="Arial" pitchFamily="34" charset="0"/>
                <a:ea typeface="Arial" pitchFamily="34" charset="-122"/>
                <a:cs typeface="Arial" pitchFamily="34" charset="-120"/>
              </a:rPr>
              <a:t>The deploy watches the image’s own HEALTHCHECK and treats the 150 s timeout as failure.</a:t>
            </a:r>
            <a:endParaRPr lang="en-US" sz="1050" dirty="0"/>
          </a:p>
        </p:txBody>
      </p:sp>
      <p:sp>
        <p:nvSpPr>
          <p:cNvPr id="19" name="Shape 15"/>
          <p:cNvSpPr/>
          <p:nvPr/>
        </p:nvSpPr>
        <p:spPr>
          <a:xfrm>
            <a:off x="8412480" y="5431536"/>
            <a:ext cx="3227832" cy="1097280"/>
          </a:xfrm>
          <a:prstGeom prst="roundRect">
            <a:avLst>
              <a:gd name="adj" fmla="val 6667"/>
            </a:avLst>
          </a:prstGeom>
          <a:solidFill>
            <a:srgbClr val="FFFFFF"/>
          </a:solidFill>
          <a:ln w="12700">
            <a:solidFill>
              <a:srgbClr val="E2E4EC"/>
            </a:solidFill>
            <a:prstDash val="solid"/>
          </a:ln>
          <a:effectLst>
            <a:outerShdw sx="100000" sy="100000" kx="0" ky="0" algn="bl" rotWithShape="0" blurRad="101600" dist="25400" dir="5400000">
              <a:srgbClr val="14161C">
                <a:alpha val="8000"/>
              </a:srgbClr>
            </a:outerShdw>
          </a:effectLst>
        </p:spPr>
      </p:sp>
      <p:sp>
        <p:nvSpPr>
          <p:cNvPr id="20" name="Text 16"/>
          <p:cNvSpPr txBox="1"/>
          <p:nvPr/>
        </p:nvSpPr>
        <p:spPr>
          <a:xfrm>
            <a:off x="8577072" y="5541264"/>
            <a:ext cx="2898648" cy="329184"/>
          </a:xfrm>
          <a:prstGeom prst="rect">
            <a:avLst/>
          </a:prstGeom>
          <a:noFill/>
          <a:ln/>
        </p:spPr>
        <p:txBody>
          <a:bodyPr wrap="square" lIns="0" tIns="0" rIns="0" bIns="0" rtlCol="0" anchor="t"/>
          <a:lstStyle/>
          <a:p>
            <a:pPr indent="0" marL="0">
              <a:buNone/>
            </a:pPr>
            <a:r>
              <a:rPr lang="en-US" sz="1200" b="1" dirty="0">
                <a:solidFill>
                  <a:srgbClr val="14161C"/>
                </a:solidFill>
                <a:latin typeface="Arial" pitchFamily="34" charset="0"/>
                <a:ea typeface="Arial" pitchFamily="34" charset="-122"/>
                <a:cs typeface="Arial" pitchFamily="34" charset="-120"/>
              </a:rPr>
              <a:t>Two health checks</a:t>
            </a:r>
            <a:endParaRPr lang="en-US" sz="1200" dirty="0"/>
          </a:p>
        </p:txBody>
      </p:sp>
      <p:sp>
        <p:nvSpPr>
          <p:cNvPr id="21" name="Text 17"/>
          <p:cNvSpPr txBox="1"/>
          <p:nvPr/>
        </p:nvSpPr>
        <p:spPr>
          <a:xfrm>
            <a:off x="8577072" y="5925312"/>
            <a:ext cx="2898648" cy="493776"/>
          </a:xfrm>
          <a:prstGeom prst="rect">
            <a:avLst/>
          </a:prstGeom>
          <a:noFill/>
          <a:ln/>
        </p:spPr>
        <p:txBody>
          <a:bodyPr wrap="square" lIns="0" tIns="0" rIns="0" bIns="0" rtlCol="0" anchor="t"/>
          <a:lstStyle/>
          <a:p>
            <a:pPr indent="0" marL="0">
              <a:spcAft>
                <a:spcPts val="400"/>
              </a:spcAft>
              <a:buNone/>
            </a:pPr>
            <a:r>
              <a:rPr lang="en-US" sz="1050" dirty="0">
                <a:solidFill>
                  <a:srgbClr val="565C6B"/>
                </a:solidFill>
                <a:latin typeface="Arial" pitchFamily="34" charset="0"/>
                <a:ea typeface="Arial" pitchFamily="34" charset="-122"/>
                <a:cs typeface="Arial" pitchFamily="34" charset="-120"/>
              </a:rPr>
              <a:t>Loopback proves the container is up; the public HTTPS check proves a user can reach it.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D"/>
        </a:solidFill>
      </p:bgPr>
    </p:bg>
    <p:spTree>
      <p:nvGrpSpPr>
        <p:cNvPr id="1" name=""/>
        <p:cNvGrpSpPr/>
        <p:nvPr/>
      </p:nvGrpSpPr>
      <p:grpSpPr>
        <a:xfrm>
          <a:off x="0" y="0"/>
          <a:ext cx="0" cy="0"/>
          <a:chOff x="0" y="0"/>
          <a:chExt cx="0" cy="0"/>
        </a:xfrm>
      </p:grpSpPr>
      <p:pic>
        <p:nvPicPr>
          <p:cNvPr id="2" name="Image 0" descr="/tmp/claude-0/-home-user-ForgeFlow/c54c4f28-0214-5817-a71a-61a1132558a0/scratchpad/img/mark.png">    </p:cNvPr>
          <p:cNvPicPr>
            <a:picLocks noChangeAspect="1"/>
          </p:cNvPicPr>
          <p:nvPr/>
        </p:nvPicPr>
        <p:blipFill>
          <a:blip r:embed="rId1"/>
          <a:stretch>
            <a:fillRect/>
          </a:stretch>
        </p:blipFill>
        <p:spPr>
          <a:xfrm>
            <a:off x="548640" y="274320"/>
            <a:ext cx="237744" cy="237744"/>
          </a:xfrm>
          <a:prstGeom prst="rect">
            <a:avLst/>
          </a:prstGeom>
        </p:spPr>
      </p:pic>
      <p:sp>
        <p:nvSpPr>
          <p:cNvPr id="3" name="Text 0"/>
          <p:cNvSpPr txBox="1"/>
          <p:nvPr/>
        </p:nvSpPr>
        <p:spPr>
          <a:xfrm>
            <a:off x="841248" y="256032"/>
            <a:ext cx="4114800" cy="274320"/>
          </a:xfrm>
          <a:prstGeom prst="rect">
            <a:avLst/>
          </a:prstGeom>
          <a:noFill/>
          <a:ln/>
        </p:spPr>
        <p:txBody>
          <a:bodyPr wrap="square" lIns="0" tIns="0" rIns="0" bIns="0" rtlCol="0" anchor="ctr"/>
          <a:lstStyle/>
          <a:p>
            <a:pPr indent="0" marL="0">
              <a:buNone/>
            </a:pPr>
            <a:r>
              <a:rPr lang="en-US" sz="1100" b="1" dirty="0">
                <a:solidFill>
                  <a:srgbClr val="14161C"/>
                </a:solidFill>
                <a:latin typeface="Arial" pitchFamily="34" charset="0"/>
                <a:ea typeface="Arial" pitchFamily="34" charset="-122"/>
                <a:cs typeface="Arial" pitchFamily="34" charset="-120"/>
              </a:rPr>
              <a:t>ForgeFlow</a:t>
            </a:r>
            <a:pPr indent="0" marL="0">
              <a:buNone/>
            </a:pPr>
            <a:r>
              <a:rPr lang="en-US" sz="1100" dirty="0">
                <a:solidFill>
                  <a:srgbClr val="565C6B"/>
                </a:solidFill>
                <a:latin typeface="Arial" pitchFamily="34" charset="0"/>
                <a:ea typeface="Arial" pitchFamily="34" charset="-122"/>
                <a:cs typeface="Arial" pitchFamily="34" charset="-120"/>
              </a:rPr>
              <a:t>   CA-2 DevOps</a:t>
            </a:r>
            <a:endParaRPr lang="en-US" sz="1100" dirty="0"/>
          </a:p>
        </p:txBody>
      </p:sp>
      <p:sp>
        <p:nvSpPr>
          <p:cNvPr id="4" name="Text 1"/>
          <p:cNvSpPr txBox="1"/>
          <p:nvPr/>
        </p:nvSpPr>
        <p:spPr>
          <a:xfrm>
            <a:off x="9811512" y="256032"/>
            <a:ext cx="1828800" cy="274320"/>
          </a:xfrm>
          <a:prstGeom prst="rect">
            <a:avLst/>
          </a:prstGeom>
          <a:noFill/>
          <a:ln/>
        </p:spPr>
        <p:txBody>
          <a:bodyPr wrap="square" lIns="0" tIns="0" rIns="0" bIns="0" rtlCol="0" anchor="ctr"/>
          <a:lstStyle/>
          <a:p>
            <a:pPr algn="r" indent="0" marL="0">
              <a:buNone/>
            </a:pPr>
            <a:r>
              <a:rPr lang="en-US" sz="1000" dirty="0">
                <a:solidFill>
                  <a:srgbClr val="878D9C"/>
                </a:solidFill>
                <a:latin typeface="Courier New" pitchFamily="34" charset="0"/>
                <a:ea typeface="Courier New" pitchFamily="34" charset="-122"/>
                <a:cs typeface="Courier New" pitchFamily="34" charset="-120"/>
              </a:rPr>
              <a:t>04 / 07</a:t>
            </a:r>
            <a:endParaRPr lang="en-US" sz="1000" dirty="0"/>
          </a:p>
        </p:txBody>
      </p:sp>
      <p:sp>
        <p:nvSpPr>
          <p:cNvPr id="5" name="Text 2"/>
          <p:cNvSpPr txBox="1"/>
          <p:nvPr/>
        </p:nvSpPr>
        <p:spPr>
          <a:xfrm>
            <a:off x="548640" y="713232"/>
            <a:ext cx="7315200" cy="256032"/>
          </a:xfrm>
          <a:prstGeom prst="rect">
            <a:avLst/>
          </a:prstGeom>
          <a:noFill/>
          <a:ln/>
        </p:spPr>
        <p:txBody>
          <a:bodyPr wrap="square" lIns="0" tIns="0" rIns="0" bIns="0" rtlCol="0" anchor="ctr"/>
          <a:lstStyle/>
          <a:p>
            <a:pPr indent="0" marL="0">
              <a:buNone/>
            </a:pPr>
            <a:r>
              <a:rPr lang="en-US" sz="1050" b="1" spc="300" kern="0" dirty="0">
                <a:solidFill>
                  <a:srgbClr val="5457E0"/>
                </a:solidFill>
                <a:latin typeface="Arial" pitchFamily="34" charset="0"/>
                <a:ea typeface="Arial" pitchFamily="34" charset="-122"/>
                <a:cs typeface="Arial" pitchFamily="34" charset="-120"/>
              </a:rPr>
              <a:t>CHALLENGES</a:t>
            </a:r>
            <a:endParaRPr lang="en-US" sz="1050" dirty="0"/>
          </a:p>
        </p:txBody>
      </p:sp>
      <p:sp>
        <p:nvSpPr>
          <p:cNvPr id="6" name="Text 3"/>
          <p:cNvSpPr txBox="1"/>
          <p:nvPr/>
        </p:nvSpPr>
        <p:spPr>
          <a:xfrm>
            <a:off x="548640" y="969264"/>
            <a:ext cx="11064240" cy="603504"/>
          </a:xfrm>
          <a:prstGeom prst="rect">
            <a:avLst/>
          </a:prstGeom>
          <a:noFill/>
          <a:ln/>
        </p:spPr>
        <p:txBody>
          <a:bodyPr wrap="square" lIns="0" tIns="0" rIns="0" bIns="0" rtlCol="0" anchor="ctr"/>
          <a:lstStyle/>
          <a:p>
            <a:pPr indent="0" marL="0">
              <a:buNone/>
            </a:pPr>
            <a:r>
              <a:rPr lang="en-US" sz="3000" b="1" dirty="0">
                <a:solidFill>
                  <a:srgbClr val="14161C"/>
                </a:solidFill>
                <a:latin typeface="Arial" pitchFamily="34" charset="0"/>
                <a:ea typeface="Arial" pitchFamily="34" charset="-122"/>
                <a:cs typeface="Arial" pitchFamily="34" charset="-120"/>
              </a:rPr>
              <a:t>Every config parsed correctly</a:t>
            </a:r>
            <a:pPr indent="0" marL="0">
              <a:buNone/>
            </a:pPr>
            <a:r>
              <a:rPr lang="en-US" sz="3000" b="1" dirty="0">
                <a:solidFill>
                  <a:srgbClr val="565C6B"/>
                </a:solidFill>
                <a:latin typeface="Arial" pitchFamily="34" charset="0"/>
                <a:ea typeface="Arial" pitchFamily="34" charset="-122"/>
                <a:cs typeface="Arial" pitchFamily="34" charset="-120"/>
              </a:rPr>
              <a:t> while being wrong</a:t>
            </a:r>
            <a:endParaRPr lang="en-US" sz="3000" dirty="0"/>
          </a:p>
        </p:txBody>
      </p:sp>
      <p:sp>
        <p:nvSpPr>
          <p:cNvPr id="7" name="Shape 4"/>
          <p:cNvSpPr/>
          <p:nvPr/>
        </p:nvSpPr>
        <p:spPr>
          <a:xfrm>
            <a:off x="548640" y="1783080"/>
            <a:ext cx="5486400" cy="2743200"/>
          </a:xfrm>
          <a:prstGeom prst="roundRect">
            <a:avLst>
              <a:gd name="adj" fmla="val 2667"/>
            </a:avLst>
          </a:prstGeom>
          <a:solidFill>
            <a:srgbClr val="FFFFFF"/>
          </a:solidFill>
          <a:ln w="12700">
            <a:solidFill>
              <a:srgbClr val="E2E4EC"/>
            </a:solidFill>
            <a:prstDash val="solid"/>
          </a:ln>
          <a:effectLst>
            <a:outerShdw sx="100000" sy="100000" kx="0" ky="0" algn="bl" rotWithShape="0" blurRad="101600" dist="25400" dir="5400000">
              <a:srgbClr val="14161C">
                <a:alpha val="8000"/>
              </a:srgbClr>
            </a:outerShdw>
          </a:effectLst>
        </p:spPr>
      </p:sp>
      <p:sp>
        <p:nvSpPr>
          <p:cNvPr id="8" name="Text 5"/>
          <p:cNvSpPr txBox="1"/>
          <p:nvPr/>
        </p:nvSpPr>
        <p:spPr>
          <a:xfrm>
            <a:off x="731520" y="1883664"/>
            <a:ext cx="5120640" cy="329184"/>
          </a:xfrm>
          <a:prstGeom prst="rect">
            <a:avLst/>
          </a:prstGeom>
          <a:noFill/>
          <a:ln/>
        </p:spPr>
        <p:txBody>
          <a:bodyPr wrap="square" lIns="0" tIns="0" rIns="0" bIns="0" rtlCol="0" anchor="ctr"/>
          <a:lstStyle/>
          <a:p>
            <a:pPr indent="0" marL="0">
              <a:buNone/>
            </a:pPr>
            <a:r>
              <a:rPr lang="en-US" sz="1400" b="1" dirty="0">
                <a:solidFill>
                  <a:srgbClr val="14161C"/>
                </a:solidFill>
                <a:latin typeface="Arial" pitchFamily="34" charset="0"/>
                <a:ea typeface="Arial" pitchFamily="34" charset="-122"/>
                <a:cs typeface="Arial" pitchFamily="34" charset="-120"/>
              </a:rPr>
              <a:t>The WebSocket that isn’t</a:t>
            </a:r>
            <a:endParaRPr lang="en-US" sz="1400" dirty="0"/>
          </a:p>
        </p:txBody>
      </p:sp>
      <p:sp>
        <p:nvSpPr>
          <p:cNvPr id="9" name="Text 6"/>
          <p:cNvSpPr txBox="1"/>
          <p:nvPr/>
        </p:nvSpPr>
        <p:spPr>
          <a:xfrm>
            <a:off x="731520" y="2231136"/>
            <a:ext cx="5120640" cy="658368"/>
          </a:xfrm>
          <a:prstGeom prst="rect">
            <a:avLst/>
          </a:prstGeom>
          <a:noFill/>
          <a:ln/>
        </p:spPr>
        <p:txBody>
          <a:bodyPr wrap="square" lIns="0" tIns="0" rIns="0" bIns="0" rtlCol="0" anchor="t"/>
          <a:lstStyle/>
          <a:p>
            <a:pPr indent="0" marL="0">
              <a:buNone/>
            </a:pPr>
            <a:r>
              <a:rPr lang="en-US" sz="1100" dirty="0">
                <a:solidFill>
                  <a:srgbClr val="565C6B"/>
                </a:solidFill>
                <a:latin typeface="Arial" pitchFamily="34" charset="0"/>
                <a:ea typeface="Arial" pitchFamily="34" charset="-122"/>
                <a:cs typeface="Arial" pitchFamily="34" charset="-120"/>
              </a:rPr>
              <a:t>A standard nginx </a:t>
            </a:r>
            <a:pPr indent="0" marL="0">
              <a:buNone/>
            </a:pPr>
            <a:r>
              <a:rPr lang="en-US" sz="1100" dirty="0">
                <a:solidFill>
                  <a:srgbClr val="14161C"/>
                </a:solidFill>
                <a:latin typeface="Courier New" pitchFamily="34" charset="0"/>
                <a:ea typeface="Courier New" pitchFamily="34" charset="-122"/>
                <a:cs typeface="Courier New" pitchFamily="34" charset="-120"/>
              </a:rPr>
              <a:t>proxy_pass</a:t>
            </a:r>
            <a:pPr indent="0" marL="0">
              <a:buNone/>
            </a:pPr>
            <a:r>
              <a:rPr lang="en-US" sz="1100" dirty="0">
                <a:solidFill>
                  <a:srgbClr val="565C6B"/>
                </a:solidFill>
                <a:latin typeface="Arial" pitchFamily="34" charset="0"/>
                <a:ea typeface="Arial" pitchFamily="34" charset="-122"/>
                <a:cs typeface="Arial" pitchFamily="34" charset="-120"/>
              </a:rPr>
              <a:t> block does not forward the upgrade handshake. REST works, no error is logged, and live build streaming silently never connects.</a:t>
            </a:r>
            <a:endParaRPr lang="en-US" sz="1100" dirty="0"/>
          </a:p>
        </p:txBody>
      </p:sp>
      <p:sp>
        <p:nvSpPr>
          <p:cNvPr id="10" name="Text 7"/>
          <p:cNvSpPr txBox="1"/>
          <p:nvPr/>
        </p:nvSpPr>
        <p:spPr>
          <a:xfrm>
            <a:off x="731520" y="2761488"/>
            <a:ext cx="5120640" cy="256032"/>
          </a:xfrm>
          <a:prstGeom prst="rect">
            <a:avLst/>
          </a:prstGeom>
          <a:noFill/>
          <a:ln/>
        </p:spPr>
        <p:txBody>
          <a:bodyPr wrap="square" lIns="0" tIns="0" rIns="0" bIns="0" rtlCol="0" anchor="ctr"/>
          <a:lstStyle/>
          <a:p>
            <a:pPr indent="0" marL="0">
              <a:buNone/>
            </a:pPr>
            <a:r>
              <a:rPr lang="en-US" sz="1050" dirty="0">
                <a:solidFill>
                  <a:srgbClr val="878D9C"/>
                </a:solidFill>
                <a:latin typeface="Arial" pitchFamily="34" charset="0"/>
                <a:ea typeface="Arial" pitchFamily="34" charset="-122"/>
                <a:cs typeface="Arial" pitchFamily="34" charset="-120"/>
              </a:rPr>
              <a:t>Tested both ways against a real nginx, same request:</a:t>
            </a:r>
            <a:endParaRPr lang="en-US" sz="1050" dirty="0"/>
          </a:p>
        </p:txBody>
      </p:sp>
      <p:sp>
        <p:nvSpPr>
          <p:cNvPr id="11" name="Shape 8"/>
          <p:cNvSpPr/>
          <p:nvPr/>
        </p:nvSpPr>
        <p:spPr>
          <a:xfrm>
            <a:off x="731520" y="3044952"/>
            <a:ext cx="5120640" cy="566928"/>
          </a:xfrm>
          <a:prstGeom prst="roundRect">
            <a:avLst>
              <a:gd name="adj" fmla="val 12903"/>
            </a:avLst>
          </a:prstGeom>
          <a:solidFill>
            <a:srgbClr val="E8F3EC"/>
          </a:solidFill>
          <a:ln w="12700">
            <a:solidFill>
              <a:srgbClr val="A9D3B8"/>
            </a:solidFill>
            <a:prstDash val="solid"/>
          </a:ln>
        </p:spPr>
      </p:sp>
      <p:sp>
        <p:nvSpPr>
          <p:cNvPr id="12" name="Text 9"/>
          <p:cNvSpPr txBox="1"/>
          <p:nvPr/>
        </p:nvSpPr>
        <p:spPr>
          <a:xfrm>
            <a:off x="868680" y="3090672"/>
            <a:ext cx="3063240" cy="475488"/>
          </a:xfrm>
          <a:prstGeom prst="rect">
            <a:avLst/>
          </a:prstGeom>
          <a:noFill/>
          <a:ln/>
        </p:spPr>
        <p:txBody>
          <a:bodyPr wrap="square" lIns="0" tIns="0" rIns="0" bIns="0" rtlCol="0" anchor="ctr"/>
          <a:lstStyle/>
          <a:p>
            <a:pPr indent="0" marL="0">
              <a:buNone/>
            </a:pPr>
            <a:r>
              <a:rPr lang="en-US" sz="1000" dirty="0">
                <a:solidFill>
                  <a:srgbClr val="14161C"/>
                </a:solidFill>
                <a:latin typeface="Arial" pitchFamily="34" charset="0"/>
                <a:ea typeface="Arial" pitchFamily="34" charset="-122"/>
                <a:cs typeface="Arial" pitchFamily="34" charset="-120"/>
              </a:rPr>
              <a:t>With </a:t>
            </a:r>
            <a:pPr indent="0" marL="0">
              <a:buNone/>
            </a:pPr>
            <a:r>
              <a:rPr lang="en-US" sz="1000" dirty="0">
                <a:solidFill>
                  <a:srgbClr val="14161C"/>
                </a:solidFill>
                <a:latin typeface="Courier New" pitchFamily="34" charset="0"/>
                <a:ea typeface="Courier New" pitchFamily="34" charset="-122"/>
                <a:cs typeface="Courier New" pitchFamily="34" charset="-120"/>
              </a:rPr>
              <a:t>proxy_http_version 1.1</a:t>
            </a:r>
            <a:pPr indent="0" marL="0">
              <a:buNone/>
            </a:pPr>
            <a:r>
              <a:rPr lang="en-US" sz="1000" dirty="0">
                <a:solidFill>
                  <a:srgbClr val="14161C"/>
                </a:solidFill>
                <a:latin typeface="Arial" pitchFamily="34" charset="0"/>
                <a:ea typeface="Arial" pitchFamily="34" charset="-122"/>
                <a:cs typeface="Arial" pitchFamily="34" charset="-120"/>
              </a:rPr>
              <a:t> + </a:t>
            </a:r>
            <a:pPr indent="0" marL="0">
              <a:buNone/>
            </a:pPr>
            <a:r>
              <a:rPr lang="en-US" sz="1000" dirty="0">
                <a:solidFill>
                  <a:srgbClr val="14161C"/>
                </a:solidFill>
                <a:latin typeface="Courier New" pitchFamily="34" charset="0"/>
                <a:ea typeface="Courier New" pitchFamily="34" charset="-122"/>
                <a:cs typeface="Courier New" pitchFamily="34" charset="-120"/>
              </a:rPr>
              <a:t>Upgrade</a:t>
            </a:r>
            <a:pPr indent="0" marL="0">
              <a:buNone/>
            </a:pPr>
            <a:r>
              <a:rPr lang="en-US" sz="1000" dirty="0">
                <a:solidFill>
                  <a:srgbClr val="14161C"/>
                </a:solidFill>
                <a:latin typeface="Arial" pitchFamily="34" charset="0"/>
                <a:ea typeface="Arial" pitchFamily="34" charset="-122"/>
                <a:cs typeface="Arial" pitchFamily="34" charset="-120"/>
              </a:rPr>
              <a:t> + </a:t>
            </a:r>
            <a:pPr indent="0" marL="0">
              <a:buNone/>
            </a:pPr>
            <a:r>
              <a:rPr lang="en-US" sz="1000" dirty="0">
                <a:solidFill>
                  <a:srgbClr val="14161C"/>
                </a:solidFill>
                <a:latin typeface="Courier New" pitchFamily="34" charset="0"/>
                <a:ea typeface="Courier New" pitchFamily="34" charset="-122"/>
                <a:cs typeface="Courier New" pitchFamily="34" charset="-120"/>
              </a:rPr>
              <a:t>Connection</a:t>
            </a:r>
            <a:endParaRPr lang="en-US" sz="1000" dirty="0"/>
          </a:p>
        </p:txBody>
      </p:sp>
      <p:sp>
        <p:nvSpPr>
          <p:cNvPr id="13" name="Text 10"/>
          <p:cNvSpPr txBox="1"/>
          <p:nvPr/>
        </p:nvSpPr>
        <p:spPr>
          <a:xfrm>
            <a:off x="3886200" y="3090672"/>
            <a:ext cx="1874520" cy="475488"/>
          </a:xfrm>
          <a:prstGeom prst="rect">
            <a:avLst/>
          </a:prstGeom>
          <a:noFill/>
          <a:ln/>
        </p:spPr>
        <p:txBody>
          <a:bodyPr wrap="square" lIns="0" tIns="0" rIns="0" bIns="0" rtlCol="0" anchor="ctr"/>
          <a:lstStyle/>
          <a:p>
            <a:pPr algn="r" indent="0" marL="0">
              <a:buNone/>
            </a:pPr>
            <a:r>
              <a:rPr lang="en-US" sz="1100" b="1" dirty="0">
                <a:solidFill>
                  <a:srgbClr val="15803D"/>
                </a:solidFill>
                <a:latin typeface="Arial" pitchFamily="34" charset="0"/>
                <a:ea typeface="Arial" pitchFamily="34" charset="-122"/>
                <a:cs typeface="Arial" pitchFamily="34" charset="-120"/>
              </a:rPr>
              <a:t>101 Switching Protocols</a:t>
            </a:r>
            <a:endParaRPr lang="en-US" sz="1100" dirty="0"/>
          </a:p>
        </p:txBody>
      </p:sp>
      <p:sp>
        <p:nvSpPr>
          <p:cNvPr id="14" name="Shape 11"/>
          <p:cNvSpPr/>
          <p:nvPr/>
        </p:nvSpPr>
        <p:spPr>
          <a:xfrm>
            <a:off x="731520" y="3703320"/>
            <a:ext cx="5120640" cy="566928"/>
          </a:xfrm>
          <a:prstGeom prst="roundRect">
            <a:avLst>
              <a:gd name="adj" fmla="val 12903"/>
            </a:avLst>
          </a:prstGeom>
          <a:solidFill>
            <a:srgbClr val="F9EAEA"/>
          </a:solidFill>
          <a:ln w="12700">
            <a:solidFill>
              <a:srgbClr val="E2B0B0"/>
            </a:solidFill>
            <a:prstDash val="solid"/>
          </a:ln>
        </p:spPr>
      </p:sp>
      <p:sp>
        <p:nvSpPr>
          <p:cNvPr id="15" name="Text 12"/>
          <p:cNvSpPr txBox="1"/>
          <p:nvPr/>
        </p:nvSpPr>
        <p:spPr>
          <a:xfrm>
            <a:off x="868680" y="3749040"/>
            <a:ext cx="3063240" cy="475488"/>
          </a:xfrm>
          <a:prstGeom prst="rect">
            <a:avLst/>
          </a:prstGeom>
          <a:noFill/>
          <a:ln/>
        </p:spPr>
        <p:txBody>
          <a:bodyPr wrap="square" lIns="0" tIns="0" rIns="0" bIns="0" rtlCol="0" anchor="ctr"/>
          <a:lstStyle/>
          <a:p>
            <a:pPr indent="0" marL="0">
              <a:buNone/>
            </a:pPr>
            <a:r>
              <a:rPr lang="en-US" sz="1000" dirty="0">
                <a:solidFill>
                  <a:srgbClr val="14161C"/>
                </a:solidFill>
                <a:latin typeface="Arial" pitchFamily="34" charset="0"/>
                <a:ea typeface="Arial" pitchFamily="34" charset="-122"/>
                <a:cs typeface="Arial" pitchFamily="34" charset="-120"/>
              </a:rPr>
              <a:t>Identical config, those three lines removed</a:t>
            </a:r>
            <a:endParaRPr lang="en-US" sz="1000" dirty="0"/>
          </a:p>
        </p:txBody>
      </p:sp>
      <p:sp>
        <p:nvSpPr>
          <p:cNvPr id="16" name="Text 13"/>
          <p:cNvSpPr txBox="1"/>
          <p:nvPr/>
        </p:nvSpPr>
        <p:spPr>
          <a:xfrm>
            <a:off x="3886200" y="3749040"/>
            <a:ext cx="1874520" cy="475488"/>
          </a:xfrm>
          <a:prstGeom prst="rect">
            <a:avLst/>
          </a:prstGeom>
          <a:noFill/>
          <a:ln/>
        </p:spPr>
        <p:txBody>
          <a:bodyPr wrap="square" lIns="0" tIns="0" rIns="0" bIns="0" rtlCol="0" anchor="ctr"/>
          <a:lstStyle/>
          <a:p>
            <a:pPr algn="r" indent="0" marL="0">
              <a:buNone/>
            </a:pPr>
            <a:r>
              <a:rPr lang="en-US" sz="1100" b="1" dirty="0">
                <a:solidFill>
                  <a:srgbClr val="C02626"/>
                </a:solidFill>
                <a:latin typeface="Arial" pitchFamily="34" charset="0"/>
                <a:ea typeface="Arial" pitchFamily="34" charset="-122"/>
                <a:cs typeface="Arial" pitchFamily="34" charset="-120"/>
              </a:rPr>
              <a:t>200 OK</a:t>
            </a:r>
            <a:endParaRPr lang="en-US" sz="1100" dirty="0"/>
          </a:p>
        </p:txBody>
      </p:sp>
      <p:sp>
        <p:nvSpPr>
          <p:cNvPr id="17" name="Shape 14"/>
          <p:cNvSpPr/>
          <p:nvPr/>
        </p:nvSpPr>
        <p:spPr>
          <a:xfrm>
            <a:off x="6153912" y="1783080"/>
            <a:ext cx="5486400" cy="2743200"/>
          </a:xfrm>
          <a:prstGeom prst="roundRect">
            <a:avLst>
              <a:gd name="adj" fmla="val 2667"/>
            </a:avLst>
          </a:prstGeom>
          <a:solidFill>
            <a:srgbClr val="FFFFFF"/>
          </a:solidFill>
          <a:ln w="12700">
            <a:solidFill>
              <a:srgbClr val="E2E4EC"/>
            </a:solidFill>
            <a:prstDash val="solid"/>
          </a:ln>
          <a:effectLst>
            <a:outerShdw sx="100000" sy="100000" kx="0" ky="0" algn="bl" rotWithShape="0" blurRad="101600" dist="25400" dir="5400000">
              <a:srgbClr val="14161C">
                <a:alpha val="8000"/>
              </a:srgbClr>
            </a:outerShdw>
          </a:effectLst>
        </p:spPr>
      </p:sp>
      <p:sp>
        <p:nvSpPr>
          <p:cNvPr id="18" name="Text 15"/>
          <p:cNvSpPr txBox="1"/>
          <p:nvPr/>
        </p:nvSpPr>
        <p:spPr>
          <a:xfrm>
            <a:off x="6318504" y="1892808"/>
            <a:ext cx="5157216" cy="329184"/>
          </a:xfrm>
          <a:prstGeom prst="rect">
            <a:avLst/>
          </a:prstGeom>
          <a:noFill/>
          <a:ln/>
        </p:spPr>
        <p:txBody>
          <a:bodyPr wrap="square" lIns="0" tIns="0" rIns="0" bIns="0" rtlCol="0" anchor="t"/>
          <a:lstStyle/>
          <a:p>
            <a:pPr indent="0" marL="0">
              <a:buNone/>
            </a:pPr>
            <a:r>
              <a:rPr lang="en-US" sz="1400" b="1" dirty="0">
                <a:solidFill>
                  <a:srgbClr val="14161C"/>
                </a:solidFill>
                <a:latin typeface="Arial" pitchFamily="34" charset="0"/>
                <a:ea typeface="Arial" pitchFamily="34" charset="-122"/>
                <a:cs typeface="Arial" pitchFamily="34" charset="-120"/>
              </a:rPr>
              <a:t>Oracle Cloud has two firewalls</a:t>
            </a:r>
            <a:endParaRPr lang="en-US" sz="1400" dirty="0"/>
          </a:p>
        </p:txBody>
      </p:sp>
      <p:sp>
        <p:nvSpPr>
          <p:cNvPr id="19" name="Text 16"/>
          <p:cNvSpPr txBox="1"/>
          <p:nvPr/>
        </p:nvSpPr>
        <p:spPr>
          <a:xfrm>
            <a:off x="6318504" y="2276856"/>
            <a:ext cx="5157216" cy="2139696"/>
          </a:xfrm>
          <a:prstGeom prst="rect">
            <a:avLst/>
          </a:prstGeom>
          <a:noFill/>
          <a:ln/>
        </p:spPr>
        <p:txBody>
          <a:bodyPr wrap="square" lIns="0" tIns="0" rIns="0" bIns="0" rtlCol="0" anchor="t"/>
          <a:lstStyle/>
          <a:p>
            <a:pPr indent="0" marL="0">
              <a:spcAft>
                <a:spcPts val="400"/>
              </a:spcAft>
              <a:buNone/>
            </a:pPr>
            <a:r>
              <a:rPr lang="en-US" sz="1150" dirty="0">
                <a:solidFill>
                  <a:srgbClr val="565C6B"/>
                </a:solidFill>
                <a:latin typeface="Arial" pitchFamily="34" charset="0"/>
                <a:ea typeface="Arial" pitchFamily="34" charset="-122"/>
                <a:cs typeface="Arial" pitchFamily="34" charset="-120"/>
              </a:rPr>
              <a:t>Oracle’s Ubuntu image ends its </a:t>
            </a:r>
            <a:pPr indent="0" marL="0">
              <a:spcAft>
                <a:spcPts val="400"/>
              </a:spcAft>
              <a:buNone/>
            </a:pPr>
            <a:r>
              <a:rPr lang="en-US" sz="1150" dirty="0">
                <a:solidFill>
                  <a:srgbClr val="14161C"/>
                </a:solidFill>
                <a:latin typeface="Courier New" pitchFamily="34" charset="0"/>
                <a:ea typeface="Courier New" pitchFamily="34" charset="-122"/>
                <a:cs typeface="Courier New" pitchFamily="34" charset="-120"/>
              </a:rPr>
              <a:t>INPUT</a:t>
            </a:r>
            <a:pPr indent="0" marL="0">
              <a:spcAft>
                <a:spcPts val="400"/>
              </a:spcAft>
              <a:buNone/>
            </a:pPr>
            <a:r>
              <a:rPr lang="en-US" sz="1150" dirty="0">
                <a:solidFill>
                  <a:srgbClr val="565C6B"/>
                </a:solidFill>
                <a:latin typeface="Arial" pitchFamily="34" charset="0"/>
                <a:ea typeface="Arial" pitchFamily="34" charset="-122"/>
                <a:cs typeface="Arial" pitchFamily="34" charset="-120"/>
              </a:rPr>
              <a:t> chain in a blanket </a:t>
            </a:r>
            <a:pPr indent="0" marL="0">
              <a:spcAft>
                <a:spcPts val="400"/>
              </a:spcAft>
              <a:buNone/>
            </a:pPr>
            <a:r>
              <a:rPr lang="en-US" sz="1150" dirty="0">
                <a:solidFill>
                  <a:srgbClr val="14161C"/>
                </a:solidFill>
                <a:latin typeface="Courier New" pitchFamily="34" charset="0"/>
                <a:ea typeface="Courier New" pitchFamily="34" charset="-122"/>
                <a:cs typeface="Courier New" pitchFamily="34" charset="-120"/>
              </a:rPr>
              <a:t>REJECT</a:t>
            </a:r>
            <a:pPr indent="0" marL="0">
              <a:spcAft>
                <a:spcPts val="400"/>
              </a:spcAft>
              <a:buNone/>
            </a:pPr>
            <a:r>
              <a:rPr lang="en-US" sz="1150" dirty="0">
                <a:solidFill>
                  <a:srgbClr val="565C6B"/>
                </a:solidFill>
                <a:latin typeface="Arial" pitchFamily="34" charset="0"/>
                <a:ea typeface="Arial" pitchFamily="34" charset="-122"/>
                <a:cs typeface="Arial" pitchFamily="34" charset="-120"/>
              </a:rPr>
              <a:t>. ufw writes to a different chain, so </a:t>
            </a:r>
            <a:pPr indent="0" marL="0">
              <a:spcAft>
                <a:spcPts val="400"/>
              </a:spcAft>
              <a:buNone/>
            </a:pPr>
            <a:r>
              <a:rPr lang="en-US" sz="1150" dirty="0">
                <a:solidFill>
                  <a:srgbClr val="14161C"/>
                </a:solidFill>
                <a:latin typeface="Courier New" pitchFamily="34" charset="0"/>
                <a:ea typeface="Courier New" pitchFamily="34" charset="-122"/>
                <a:cs typeface="Courier New" pitchFamily="34" charset="-120"/>
              </a:rPr>
              <a:t>ufw allow 443</a:t>
            </a:r>
            <a:pPr indent="0" marL="0">
              <a:spcAft>
                <a:spcPts val="400"/>
              </a:spcAft>
              <a:buNone/>
            </a:pPr>
            <a:r>
              <a:rPr lang="en-US" sz="1150" dirty="0">
                <a:solidFill>
                  <a:srgbClr val="565C6B"/>
                </a:solidFill>
                <a:latin typeface="Arial" pitchFamily="34" charset="0"/>
                <a:ea typeface="Arial" pitchFamily="34" charset="-122"/>
                <a:cs typeface="Arial" pitchFamily="34" charset="-120"/>
              </a:rPr>
              <a:t> succeeds, </a:t>
            </a:r>
            <a:pPr indent="0" marL="0">
              <a:spcAft>
                <a:spcPts val="400"/>
              </a:spcAft>
              <a:buNone/>
            </a:pPr>
            <a:r>
              <a:rPr lang="en-US" sz="1150" dirty="0">
                <a:solidFill>
                  <a:srgbClr val="14161C"/>
                </a:solidFill>
                <a:latin typeface="Courier New" pitchFamily="34" charset="0"/>
                <a:ea typeface="Courier New" pitchFamily="34" charset="-122"/>
                <a:cs typeface="Courier New" pitchFamily="34" charset="-120"/>
              </a:rPr>
              <a:t>ufw status</a:t>
            </a:r>
            <a:pPr indent="0" marL="0">
              <a:spcAft>
                <a:spcPts val="400"/>
              </a:spcAft>
              <a:buNone/>
            </a:pPr>
            <a:r>
              <a:rPr lang="en-US" sz="1150" dirty="0">
                <a:solidFill>
                  <a:srgbClr val="565C6B"/>
                </a:solidFill>
                <a:latin typeface="Arial" pitchFamily="34" charset="0"/>
                <a:ea typeface="Arial" pitchFamily="34" charset="-122"/>
                <a:cs typeface="Arial" pitchFamily="34" charset="-120"/>
              </a:rPr>
              <a:t> shows it open, and packets are still dropped.</a:t>
            </a:r>
            <a:endParaRPr lang="en-US" sz="1150" dirty="0"/>
          </a:p>
          <a:p>
            <a:pPr indent="0" marL="0">
              <a:spcAft>
                <a:spcPts val="400"/>
              </a:spcAft>
              <a:buNone/>
            </a:pPr>
            <a:r>
              <a:rPr lang="en-US" sz="1150" dirty="0">
                <a:solidFill>
                  <a:srgbClr val="565C6B"/>
                </a:solidFill>
                <a:latin typeface="Arial" pitchFamily="34" charset="0"/>
                <a:ea typeface="Arial" pitchFamily="34" charset="-122"/>
                <a:cs typeface="Arial" pitchFamily="34" charset="-120"/>
              </a:rPr>
              <a:t>The playbook deletes those rules </a:t>
            </a:r>
            <a:pPr indent="0" marL="0">
              <a:spcAft>
                <a:spcPts val="400"/>
              </a:spcAft>
              <a:buNone/>
            </a:pPr>
            <a:r>
              <a:rPr lang="en-US" sz="1150" b="1" dirty="0">
                <a:solidFill>
                  <a:srgbClr val="565C6B"/>
                </a:solidFill>
                <a:latin typeface="Arial" pitchFamily="34" charset="0"/>
                <a:ea typeface="Arial" pitchFamily="34" charset="-122"/>
                <a:cs typeface="Arial" pitchFamily="34" charset="-120"/>
              </a:rPr>
              <a:t>by specification</a:t>
            </a:r>
            <a:pPr indent="0" marL="0">
              <a:spcAft>
                <a:spcPts val="400"/>
              </a:spcAft>
              <a:buNone/>
            </a:pPr>
            <a:r>
              <a:rPr lang="en-US" sz="1150" dirty="0">
                <a:solidFill>
                  <a:srgbClr val="565C6B"/>
                </a:solidFill>
                <a:latin typeface="Arial" pitchFamily="34" charset="0"/>
                <a:ea typeface="Arial" pitchFamily="34" charset="-122"/>
                <a:cs typeface="Arial" pitchFamily="34" charset="-120"/>
              </a:rPr>
              <a:t>, not by index (by index removes the wrong rule, the one keeping SSH open), then purges </a:t>
            </a:r>
            <a:pPr indent="0" marL="0">
              <a:spcAft>
                <a:spcPts val="400"/>
              </a:spcAft>
              <a:buNone/>
            </a:pPr>
            <a:r>
              <a:rPr lang="en-US" sz="1150" dirty="0">
                <a:solidFill>
                  <a:srgbClr val="14161C"/>
                </a:solidFill>
                <a:latin typeface="Courier New" pitchFamily="34" charset="0"/>
                <a:ea typeface="Courier New" pitchFamily="34" charset="-122"/>
                <a:cs typeface="Courier New" pitchFamily="34" charset="-120"/>
              </a:rPr>
              <a:t>iptables-persistent</a:t>
            </a:r>
            <a:pPr indent="0" marL="0">
              <a:spcAft>
                <a:spcPts val="400"/>
              </a:spcAft>
              <a:buNone/>
            </a:pPr>
            <a:r>
              <a:rPr lang="en-US" sz="1150" dirty="0">
                <a:solidFill>
                  <a:srgbClr val="565C6B"/>
                </a:solidFill>
                <a:latin typeface="Arial" pitchFamily="34" charset="0"/>
                <a:ea typeface="Arial" pitchFamily="34" charset="-122"/>
                <a:cs typeface="Arial" pitchFamily="34" charset="-120"/>
              </a:rPr>
              <a:t> so they never return. The OCI Security List is a separate firewall no playbook can reach.</a:t>
            </a:r>
            <a:endParaRPr lang="en-US" sz="1150" dirty="0"/>
          </a:p>
        </p:txBody>
      </p:sp>
      <p:sp>
        <p:nvSpPr>
          <p:cNvPr id="20" name="Shape 17"/>
          <p:cNvSpPr/>
          <p:nvPr/>
        </p:nvSpPr>
        <p:spPr>
          <a:xfrm>
            <a:off x="548640" y="4690872"/>
            <a:ext cx="2108606" cy="1892808"/>
          </a:xfrm>
          <a:prstGeom prst="roundRect">
            <a:avLst>
              <a:gd name="adj" fmla="val 3865"/>
            </a:avLst>
          </a:prstGeom>
          <a:solidFill>
            <a:srgbClr val="FFFFFF"/>
          </a:solidFill>
          <a:ln w="12700">
            <a:solidFill>
              <a:srgbClr val="E2E4EC"/>
            </a:solidFill>
            <a:prstDash val="solid"/>
          </a:ln>
          <a:effectLst>
            <a:outerShdw sx="100000" sy="100000" kx="0" ky="0" algn="bl" rotWithShape="0" blurRad="101600" dist="25400" dir="5400000">
              <a:srgbClr val="14161C">
                <a:alpha val="8000"/>
              </a:srgbClr>
            </a:outerShdw>
          </a:effectLst>
        </p:spPr>
      </p:sp>
      <p:sp>
        <p:nvSpPr>
          <p:cNvPr id="21" name="Text 18"/>
          <p:cNvSpPr txBox="1"/>
          <p:nvPr/>
        </p:nvSpPr>
        <p:spPr>
          <a:xfrm>
            <a:off x="713232" y="4800600"/>
            <a:ext cx="1779422" cy="329184"/>
          </a:xfrm>
          <a:prstGeom prst="rect">
            <a:avLst/>
          </a:prstGeom>
          <a:noFill/>
          <a:ln/>
        </p:spPr>
        <p:txBody>
          <a:bodyPr wrap="square" lIns="0" tIns="0" rIns="0" bIns="0" rtlCol="0" anchor="t"/>
          <a:lstStyle/>
          <a:p>
            <a:pPr indent="0" marL="0">
              <a:buNone/>
            </a:pPr>
            <a:r>
              <a:rPr lang="en-US" sz="1200" b="1" dirty="0">
                <a:solidFill>
                  <a:srgbClr val="14161C"/>
                </a:solidFill>
                <a:latin typeface="Arial" pitchFamily="34" charset="0"/>
                <a:ea typeface="Arial" pitchFamily="34" charset="-122"/>
                <a:cs typeface="Arial" pitchFamily="34" charset="-120"/>
              </a:rPr>
              <a:t>Caddy label indexing</a:t>
            </a:r>
            <a:endParaRPr lang="en-US" sz="1200" dirty="0"/>
          </a:p>
        </p:txBody>
      </p:sp>
      <p:sp>
        <p:nvSpPr>
          <p:cNvPr id="22" name="Text 19"/>
          <p:cNvSpPr txBox="1"/>
          <p:nvPr/>
        </p:nvSpPr>
        <p:spPr>
          <a:xfrm>
            <a:off x="713232" y="5184648"/>
            <a:ext cx="1779422" cy="1289304"/>
          </a:xfrm>
          <a:prstGeom prst="rect">
            <a:avLst/>
          </a:prstGeom>
          <a:noFill/>
          <a:ln/>
        </p:spPr>
        <p:txBody>
          <a:bodyPr wrap="square" lIns="0" tIns="0" rIns="0" bIns="0" rtlCol="0" anchor="t"/>
          <a:lstStyle/>
          <a:p>
            <a:pPr indent="0" marL="0">
              <a:spcAft>
                <a:spcPts val="400"/>
              </a:spcAft>
              <a:buNone/>
            </a:pPr>
            <a:r>
              <a:rPr lang="en-US" sz="1100" dirty="0">
                <a:solidFill>
                  <a:srgbClr val="565C6B"/>
                </a:solidFill>
                <a:latin typeface="Arial" pitchFamily="34" charset="0"/>
                <a:ea typeface="Arial" pitchFamily="34" charset="-122"/>
                <a:cs typeface="Arial" pitchFamily="34" charset="-120"/>
              </a:rPr>
              <a:t>Host labels count right-to-left, so a fixed index hit the TLD on a real domain. Re-anchored the regex on the left.</a:t>
            </a:r>
            <a:endParaRPr lang="en-US" sz="1100" dirty="0"/>
          </a:p>
        </p:txBody>
      </p:sp>
      <p:sp>
        <p:nvSpPr>
          <p:cNvPr id="23" name="Shape 20"/>
          <p:cNvSpPr/>
          <p:nvPr/>
        </p:nvSpPr>
        <p:spPr>
          <a:xfrm>
            <a:off x="2794406" y="4690872"/>
            <a:ext cx="2108606" cy="1892808"/>
          </a:xfrm>
          <a:prstGeom prst="roundRect">
            <a:avLst>
              <a:gd name="adj" fmla="val 3865"/>
            </a:avLst>
          </a:prstGeom>
          <a:solidFill>
            <a:srgbClr val="FFFFFF"/>
          </a:solidFill>
          <a:ln w="12700">
            <a:solidFill>
              <a:srgbClr val="E2E4EC"/>
            </a:solidFill>
            <a:prstDash val="solid"/>
          </a:ln>
          <a:effectLst>
            <a:outerShdw sx="100000" sy="100000" kx="0" ky="0" algn="bl" rotWithShape="0" blurRad="101600" dist="25400" dir="5400000">
              <a:srgbClr val="14161C">
                <a:alpha val="8000"/>
              </a:srgbClr>
            </a:outerShdw>
          </a:effectLst>
        </p:spPr>
      </p:sp>
      <p:sp>
        <p:nvSpPr>
          <p:cNvPr id="24" name="Text 21"/>
          <p:cNvSpPr txBox="1"/>
          <p:nvPr/>
        </p:nvSpPr>
        <p:spPr>
          <a:xfrm>
            <a:off x="2958998" y="4800600"/>
            <a:ext cx="1779422" cy="329184"/>
          </a:xfrm>
          <a:prstGeom prst="rect">
            <a:avLst/>
          </a:prstGeom>
          <a:noFill/>
          <a:ln/>
        </p:spPr>
        <p:txBody>
          <a:bodyPr wrap="square" lIns="0" tIns="0" rIns="0" bIns="0" rtlCol="0" anchor="t"/>
          <a:lstStyle/>
          <a:p>
            <a:pPr indent="0" marL="0">
              <a:buNone/>
            </a:pPr>
            <a:r>
              <a:rPr lang="en-US" sz="1200" b="1" dirty="0">
                <a:solidFill>
                  <a:srgbClr val="14161C"/>
                </a:solidFill>
                <a:latin typeface="Arial" pitchFamily="34" charset="0"/>
                <a:ea typeface="Arial" pitchFamily="34" charset="-122"/>
                <a:cs typeface="Arial" pitchFamily="34" charset="-120"/>
              </a:rPr>
              <a:t>Caddy bound :443</a:t>
            </a:r>
            <a:endParaRPr lang="en-US" sz="1200" dirty="0"/>
          </a:p>
        </p:txBody>
      </p:sp>
      <p:sp>
        <p:nvSpPr>
          <p:cNvPr id="25" name="Text 22"/>
          <p:cNvSpPr txBox="1"/>
          <p:nvPr/>
        </p:nvSpPr>
        <p:spPr>
          <a:xfrm>
            <a:off x="2958998" y="5184648"/>
            <a:ext cx="1779422" cy="1289304"/>
          </a:xfrm>
          <a:prstGeom prst="rect">
            <a:avLst/>
          </a:prstGeom>
          <a:noFill/>
          <a:ln/>
        </p:spPr>
        <p:txBody>
          <a:bodyPr wrap="square" lIns="0" tIns="0" rIns="0" bIns="0" rtlCol="0" anchor="t"/>
          <a:lstStyle/>
          <a:p>
            <a:pPr indent="0" marL="0">
              <a:spcAft>
                <a:spcPts val="400"/>
              </a:spcAft>
              <a:buNone/>
            </a:pPr>
            <a:r>
              <a:rPr lang="en-US" sz="1100" dirty="0">
                <a:solidFill>
                  <a:srgbClr val="565C6B"/>
                </a:solidFill>
                <a:latin typeface="Arial" pitchFamily="34" charset="0"/>
                <a:ea typeface="Arial" pitchFamily="34" charset="-122"/>
                <a:cs typeface="Arial" pitchFamily="34" charset="-120"/>
              </a:rPr>
              <a:t>With </a:t>
            </a:r>
            <a:pPr indent="0" marL="0">
              <a:spcAft>
                <a:spcPts val="400"/>
              </a:spcAft>
              <a:buNone/>
            </a:pPr>
            <a:r>
              <a:rPr lang="en-US" sz="1100" dirty="0">
                <a:solidFill>
                  <a:srgbClr val="14161C"/>
                </a:solidFill>
                <a:latin typeface="Courier New" pitchFamily="34" charset="0"/>
                <a:ea typeface="Courier New" pitchFamily="34" charset="-122"/>
                <a:cs typeface="Courier New" pitchFamily="34" charset="-120"/>
              </a:rPr>
              <a:t>auto_https off</a:t>
            </a:r>
            <a:pPr indent="0" marL="0">
              <a:spcAft>
                <a:spcPts val="400"/>
              </a:spcAft>
              <a:buNone/>
            </a:pPr>
            <a:r>
              <a:rPr lang="en-US" sz="1100" dirty="0">
                <a:solidFill>
                  <a:srgbClr val="565C6B"/>
                </a:solidFill>
                <a:latin typeface="Arial" pitchFamily="34" charset="0"/>
                <a:ea typeface="Arial" pitchFamily="34" charset="-122"/>
                <a:cs typeface="Arial" pitchFamily="34" charset="-120"/>
              </a:rPr>
              <a:t>, a bare hostname still listens on 443 and never saw nginx’s plain HTTP. Pinned </a:t>
            </a:r>
            <a:pPr indent="0" marL="0">
              <a:spcAft>
                <a:spcPts val="400"/>
              </a:spcAft>
              <a:buNone/>
            </a:pPr>
            <a:r>
              <a:rPr lang="en-US" sz="1100" dirty="0">
                <a:solidFill>
                  <a:srgbClr val="14161C"/>
                </a:solidFill>
                <a:latin typeface="Courier New" pitchFamily="34" charset="0"/>
                <a:ea typeface="Courier New" pitchFamily="34" charset="-122"/>
                <a:cs typeface="Courier New" pitchFamily="34" charset="-120"/>
              </a:rPr>
              <a:t>http://</a:t>
            </a:r>
            <a:pPr indent="0" marL="0">
              <a:spcAft>
                <a:spcPts val="400"/>
              </a:spcAft>
              <a:buNone/>
            </a:pPr>
            <a:r>
              <a:rPr lang="en-US" sz="1100" dirty="0">
                <a:solidFill>
                  <a:srgbClr val="565C6B"/>
                </a:solidFill>
                <a:latin typeface="Arial" pitchFamily="34" charset="0"/>
                <a:ea typeface="Arial" pitchFamily="34" charset="-122"/>
                <a:cs typeface="Arial" pitchFamily="34" charset="-120"/>
              </a:rPr>
              <a:t>.</a:t>
            </a:r>
            <a:endParaRPr lang="en-US" sz="1100" dirty="0"/>
          </a:p>
        </p:txBody>
      </p:sp>
      <p:sp>
        <p:nvSpPr>
          <p:cNvPr id="26" name="Shape 23"/>
          <p:cNvSpPr/>
          <p:nvPr/>
        </p:nvSpPr>
        <p:spPr>
          <a:xfrm>
            <a:off x="5040173" y="4690872"/>
            <a:ext cx="2108606" cy="1892808"/>
          </a:xfrm>
          <a:prstGeom prst="roundRect">
            <a:avLst>
              <a:gd name="adj" fmla="val 3865"/>
            </a:avLst>
          </a:prstGeom>
          <a:solidFill>
            <a:srgbClr val="FFFFFF"/>
          </a:solidFill>
          <a:ln w="12700">
            <a:solidFill>
              <a:srgbClr val="E2E4EC"/>
            </a:solidFill>
            <a:prstDash val="solid"/>
          </a:ln>
          <a:effectLst>
            <a:outerShdw sx="100000" sy="100000" kx="0" ky="0" algn="bl" rotWithShape="0" blurRad="101600" dist="25400" dir="5400000">
              <a:srgbClr val="14161C">
                <a:alpha val="8000"/>
              </a:srgbClr>
            </a:outerShdw>
          </a:effectLst>
        </p:spPr>
      </p:sp>
      <p:sp>
        <p:nvSpPr>
          <p:cNvPr id="27" name="Text 24"/>
          <p:cNvSpPr txBox="1"/>
          <p:nvPr/>
        </p:nvSpPr>
        <p:spPr>
          <a:xfrm>
            <a:off x="5204765" y="4800600"/>
            <a:ext cx="1779422" cy="329184"/>
          </a:xfrm>
          <a:prstGeom prst="rect">
            <a:avLst/>
          </a:prstGeom>
          <a:noFill/>
          <a:ln/>
        </p:spPr>
        <p:txBody>
          <a:bodyPr wrap="square" lIns="0" tIns="0" rIns="0" bIns="0" rtlCol="0" anchor="t"/>
          <a:lstStyle/>
          <a:p>
            <a:pPr indent="0" marL="0">
              <a:buNone/>
            </a:pPr>
            <a:r>
              <a:rPr lang="en-US" sz="1200" b="1" dirty="0">
                <a:solidFill>
                  <a:srgbClr val="14161C"/>
                </a:solidFill>
                <a:latin typeface="Arial" pitchFamily="34" charset="0"/>
                <a:ea typeface="Arial" pitchFamily="34" charset="-122"/>
                <a:cs typeface="Arial" pitchFamily="34" charset="-120"/>
              </a:rPr>
              <a:t>Metric cardinality</a:t>
            </a:r>
            <a:endParaRPr lang="en-US" sz="1200" dirty="0"/>
          </a:p>
        </p:txBody>
      </p:sp>
      <p:sp>
        <p:nvSpPr>
          <p:cNvPr id="28" name="Text 25"/>
          <p:cNvSpPr txBox="1"/>
          <p:nvPr/>
        </p:nvSpPr>
        <p:spPr>
          <a:xfrm>
            <a:off x="5204765" y="5184648"/>
            <a:ext cx="1779422" cy="1289304"/>
          </a:xfrm>
          <a:prstGeom prst="rect">
            <a:avLst/>
          </a:prstGeom>
          <a:noFill/>
          <a:ln/>
        </p:spPr>
        <p:txBody>
          <a:bodyPr wrap="square" lIns="0" tIns="0" rIns="0" bIns="0" rtlCol="0" anchor="t"/>
          <a:lstStyle/>
          <a:p>
            <a:pPr indent="0" marL="0">
              <a:spcAft>
                <a:spcPts val="400"/>
              </a:spcAft>
              <a:buNone/>
            </a:pPr>
            <a:r>
              <a:rPr lang="en-US" sz="1100" dirty="0">
                <a:solidFill>
                  <a:srgbClr val="565C6B"/>
                </a:solidFill>
                <a:latin typeface="Arial" pitchFamily="34" charset="0"/>
                <a:ea typeface="Arial" pitchFamily="34" charset="-122"/>
                <a:cs typeface="Arial" pitchFamily="34" charset="-120"/>
              </a:rPr>
              <a:t>Raw paths mint a series per project or per scanner probe. The label is the route template; misses go to </a:t>
            </a:r>
            <a:pPr indent="0" marL="0">
              <a:spcAft>
                <a:spcPts val="400"/>
              </a:spcAft>
              <a:buNone/>
            </a:pPr>
            <a:r>
              <a:rPr lang="en-US" sz="1100" dirty="0">
                <a:solidFill>
                  <a:srgbClr val="14161C"/>
                </a:solidFill>
                <a:latin typeface="Courier New" pitchFamily="34" charset="0"/>
                <a:ea typeface="Courier New" pitchFamily="34" charset="-122"/>
                <a:cs typeface="Courier New" pitchFamily="34" charset="-120"/>
              </a:rPr>
              <a:t>&lt;unmatched&gt;</a:t>
            </a:r>
            <a:pPr indent="0" marL="0">
              <a:spcAft>
                <a:spcPts val="400"/>
              </a:spcAft>
              <a:buNone/>
            </a:pPr>
            <a:r>
              <a:rPr lang="en-US" sz="1100" dirty="0">
                <a:solidFill>
                  <a:srgbClr val="565C6B"/>
                </a:solidFill>
                <a:latin typeface="Arial" pitchFamily="34" charset="0"/>
                <a:ea typeface="Arial" pitchFamily="34" charset="-122"/>
                <a:cs typeface="Arial" pitchFamily="34" charset="-120"/>
              </a:rPr>
              <a:t>.</a:t>
            </a:r>
            <a:endParaRPr lang="en-US" sz="1100" dirty="0"/>
          </a:p>
        </p:txBody>
      </p:sp>
      <p:sp>
        <p:nvSpPr>
          <p:cNvPr id="29" name="Shape 26"/>
          <p:cNvSpPr/>
          <p:nvPr/>
        </p:nvSpPr>
        <p:spPr>
          <a:xfrm>
            <a:off x="7285939" y="4690872"/>
            <a:ext cx="2108606" cy="1892808"/>
          </a:xfrm>
          <a:prstGeom prst="roundRect">
            <a:avLst>
              <a:gd name="adj" fmla="val 3865"/>
            </a:avLst>
          </a:prstGeom>
          <a:solidFill>
            <a:srgbClr val="FFFFFF"/>
          </a:solidFill>
          <a:ln w="12700">
            <a:solidFill>
              <a:srgbClr val="E2E4EC"/>
            </a:solidFill>
            <a:prstDash val="solid"/>
          </a:ln>
          <a:effectLst>
            <a:outerShdw sx="100000" sy="100000" kx="0" ky="0" algn="bl" rotWithShape="0" blurRad="101600" dist="25400" dir="5400000">
              <a:srgbClr val="14161C">
                <a:alpha val="8000"/>
              </a:srgbClr>
            </a:outerShdw>
          </a:effectLst>
        </p:spPr>
      </p:sp>
      <p:sp>
        <p:nvSpPr>
          <p:cNvPr id="30" name="Text 27"/>
          <p:cNvSpPr txBox="1"/>
          <p:nvPr/>
        </p:nvSpPr>
        <p:spPr>
          <a:xfrm>
            <a:off x="7450531" y="4800600"/>
            <a:ext cx="1779422" cy="329184"/>
          </a:xfrm>
          <a:prstGeom prst="rect">
            <a:avLst/>
          </a:prstGeom>
          <a:noFill/>
          <a:ln/>
        </p:spPr>
        <p:txBody>
          <a:bodyPr wrap="square" lIns="0" tIns="0" rIns="0" bIns="0" rtlCol="0" anchor="t"/>
          <a:lstStyle/>
          <a:p>
            <a:pPr indent="0" marL="0">
              <a:buNone/>
            </a:pPr>
            <a:r>
              <a:rPr lang="en-US" sz="1200" b="1" dirty="0">
                <a:solidFill>
                  <a:srgbClr val="14161C"/>
                </a:solidFill>
                <a:latin typeface="Arial" pitchFamily="34" charset="0"/>
                <a:ea typeface="Arial" pitchFamily="34" charset="-122"/>
                <a:cs typeface="Arial" pitchFamily="34" charset="-120"/>
              </a:rPr>
              <a:t>Blank when healthy</a:t>
            </a:r>
            <a:endParaRPr lang="en-US" sz="1200" dirty="0"/>
          </a:p>
        </p:txBody>
      </p:sp>
      <p:sp>
        <p:nvSpPr>
          <p:cNvPr id="31" name="Text 28"/>
          <p:cNvSpPr txBox="1"/>
          <p:nvPr/>
        </p:nvSpPr>
        <p:spPr>
          <a:xfrm>
            <a:off x="7450531" y="5184648"/>
            <a:ext cx="1779422" cy="1289304"/>
          </a:xfrm>
          <a:prstGeom prst="rect">
            <a:avLst/>
          </a:prstGeom>
          <a:noFill/>
          <a:ln/>
        </p:spPr>
        <p:txBody>
          <a:bodyPr wrap="square" lIns="0" tIns="0" rIns="0" bIns="0" rtlCol="0" anchor="t"/>
          <a:lstStyle/>
          <a:p>
            <a:pPr indent="0" marL="0">
              <a:spcAft>
                <a:spcPts val="400"/>
              </a:spcAft>
              <a:buNone/>
            </a:pPr>
            <a:r>
              <a:rPr lang="en-US" sz="1100" dirty="0">
                <a:solidFill>
                  <a:srgbClr val="565C6B"/>
                </a:solidFill>
                <a:latin typeface="Arial" pitchFamily="34" charset="0"/>
                <a:ea typeface="Arial" pitchFamily="34" charset="-122"/>
                <a:cs typeface="Arial" pitchFamily="34" charset="-120"/>
              </a:rPr>
              <a:t>No 5xx means an empty vector, and empty ÷ anything is empty: "No data". Fixed with </a:t>
            </a:r>
            <a:pPr indent="0" marL="0">
              <a:spcAft>
                <a:spcPts val="400"/>
              </a:spcAft>
              <a:buNone/>
            </a:pPr>
            <a:r>
              <a:rPr lang="en-US" sz="1100" dirty="0">
                <a:solidFill>
                  <a:srgbClr val="14161C"/>
                </a:solidFill>
                <a:latin typeface="Courier New" pitchFamily="34" charset="0"/>
                <a:ea typeface="Courier New" pitchFamily="34" charset="-122"/>
                <a:cs typeface="Courier New" pitchFamily="34" charset="-120"/>
              </a:rPr>
              <a:t>or vector(0)</a:t>
            </a:r>
            <a:pPr indent="0" marL="0">
              <a:spcAft>
                <a:spcPts val="400"/>
              </a:spcAft>
              <a:buNone/>
            </a:pPr>
            <a:r>
              <a:rPr lang="en-US" sz="1100" dirty="0">
                <a:solidFill>
                  <a:srgbClr val="565C6B"/>
                </a:solidFill>
                <a:latin typeface="Arial" pitchFamily="34" charset="0"/>
                <a:ea typeface="Arial" pitchFamily="34" charset="-122"/>
                <a:cs typeface="Arial" pitchFamily="34" charset="-120"/>
              </a:rPr>
              <a:t>.</a:t>
            </a:r>
            <a:endParaRPr lang="en-US" sz="1100" dirty="0"/>
          </a:p>
        </p:txBody>
      </p:sp>
      <p:sp>
        <p:nvSpPr>
          <p:cNvPr id="32" name="Shape 29"/>
          <p:cNvSpPr/>
          <p:nvPr/>
        </p:nvSpPr>
        <p:spPr>
          <a:xfrm>
            <a:off x="9531706" y="4690872"/>
            <a:ext cx="2108606" cy="1892808"/>
          </a:xfrm>
          <a:prstGeom prst="roundRect">
            <a:avLst>
              <a:gd name="adj" fmla="val 3865"/>
            </a:avLst>
          </a:prstGeom>
          <a:solidFill>
            <a:srgbClr val="FFFFFF"/>
          </a:solidFill>
          <a:ln w="12700">
            <a:solidFill>
              <a:srgbClr val="E2E4EC"/>
            </a:solidFill>
            <a:prstDash val="solid"/>
          </a:ln>
          <a:effectLst>
            <a:outerShdw sx="100000" sy="100000" kx="0" ky="0" algn="bl" rotWithShape="0" blurRad="101600" dist="25400" dir="5400000">
              <a:srgbClr val="14161C">
                <a:alpha val="8000"/>
              </a:srgbClr>
            </a:outerShdw>
          </a:effectLst>
        </p:spPr>
      </p:sp>
      <p:sp>
        <p:nvSpPr>
          <p:cNvPr id="33" name="Text 30"/>
          <p:cNvSpPr txBox="1"/>
          <p:nvPr/>
        </p:nvSpPr>
        <p:spPr>
          <a:xfrm>
            <a:off x="9696298" y="4800600"/>
            <a:ext cx="1779422" cy="381000"/>
          </a:xfrm>
          <a:prstGeom prst="rect">
            <a:avLst/>
          </a:prstGeom>
          <a:noFill/>
          <a:ln/>
        </p:spPr>
        <p:txBody>
          <a:bodyPr wrap="square" lIns="0" tIns="0" rIns="0" bIns="0" rtlCol="0" anchor="t"/>
          <a:lstStyle/>
          <a:p>
            <a:pPr indent="0" marL="0">
              <a:buNone/>
            </a:pPr>
            <a:r>
              <a:rPr lang="en-US" sz="1200" b="1" dirty="0">
                <a:solidFill>
                  <a:srgbClr val="14161C"/>
                </a:solidFill>
                <a:latin typeface="Arial" pitchFamily="34" charset="0"/>
                <a:ea typeface="Arial" pitchFamily="34" charset="-122"/>
                <a:cs typeface="Arial" pitchFamily="34" charset="-120"/>
              </a:rPr>
              <a:t>arm64 under emulation</a:t>
            </a:r>
            <a:endParaRPr lang="en-US" sz="1200" dirty="0"/>
          </a:p>
        </p:txBody>
      </p:sp>
      <p:sp>
        <p:nvSpPr>
          <p:cNvPr id="34" name="Text 31"/>
          <p:cNvSpPr txBox="1"/>
          <p:nvPr/>
        </p:nvSpPr>
        <p:spPr>
          <a:xfrm>
            <a:off x="9696298" y="5236464"/>
            <a:ext cx="1779422" cy="1237488"/>
          </a:xfrm>
          <a:prstGeom prst="rect">
            <a:avLst/>
          </a:prstGeom>
          <a:noFill/>
          <a:ln/>
        </p:spPr>
        <p:txBody>
          <a:bodyPr wrap="square" lIns="0" tIns="0" rIns="0" bIns="0" rtlCol="0" anchor="t"/>
          <a:lstStyle/>
          <a:p>
            <a:pPr indent="0" marL="0">
              <a:spcAft>
                <a:spcPts val="400"/>
              </a:spcAft>
              <a:buNone/>
            </a:pPr>
            <a:r>
              <a:rPr lang="en-US" sz="1100" dirty="0">
                <a:solidFill>
                  <a:srgbClr val="565C6B"/>
                </a:solidFill>
                <a:latin typeface="Arial" pitchFamily="34" charset="0"/>
                <a:ea typeface="Arial" pitchFamily="34" charset="-122"/>
                <a:cs typeface="Arial" pitchFamily="34" charset="-120"/>
              </a:rPr>
              <a:t>Runners are amd64, the VM aarch64: amd64 images die with </a:t>
            </a:r>
            <a:pPr indent="0" marL="0">
              <a:spcAft>
                <a:spcPts val="400"/>
              </a:spcAft>
              <a:buNone/>
            </a:pPr>
            <a:r>
              <a:rPr lang="en-US" sz="1100" dirty="0">
                <a:solidFill>
                  <a:srgbClr val="14161C"/>
                </a:solidFill>
                <a:latin typeface="Courier New" pitchFamily="34" charset="0"/>
                <a:ea typeface="Courier New" pitchFamily="34" charset="-122"/>
                <a:cs typeface="Courier New" pitchFamily="34" charset="-120"/>
              </a:rPr>
              <a:t>exec format error</a:t>
            </a:r>
            <a:pPr indent="0" marL="0">
              <a:spcAft>
                <a:spcPts val="400"/>
              </a:spcAft>
              <a:buNone/>
            </a:pPr>
            <a:r>
              <a:rPr lang="en-US" sz="1100" dirty="0">
                <a:solidFill>
                  <a:srgbClr val="565C6B"/>
                </a:solidFill>
                <a:latin typeface="Arial" pitchFamily="34" charset="0"/>
                <a:ea typeface="Arial" pitchFamily="34" charset="-122"/>
                <a:cs typeface="Arial" pitchFamily="34" charset="-120"/>
              </a:rPr>
              <a:t>. QEMU + buildx + layer cache.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D"/>
        </a:solidFill>
      </p:bgPr>
    </p:bg>
    <p:spTree>
      <p:nvGrpSpPr>
        <p:cNvPr id="1" name=""/>
        <p:cNvGrpSpPr/>
        <p:nvPr/>
      </p:nvGrpSpPr>
      <p:grpSpPr>
        <a:xfrm>
          <a:off x="0" y="0"/>
          <a:ext cx="0" cy="0"/>
          <a:chOff x="0" y="0"/>
          <a:chExt cx="0" cy="0"/>
        </a:xfrm>
      </p:grpSpPr>
      <p:pic>
        <p:nvPicPr>
          <p:cNvPr id="2" name="Image 0" descr="/tmp/claude-0/-home-user-ForgeFlow/c54c4f28-0214-5817-a71a-61a1132558a0/scratchpad/img/mark.png">    </p:cNvPr>
          <p:cNvPicPr>
            <a:picLocks noChangeAspect="1"/>
          </p:cNvPicPr>
          <p:nvPr/>
        </p:nvPicPr>
        <p:blipFill>
          <a:blip r:embed="rId1"/>
          <a:stretch>
            <a:fillRect/>
          </a:stretch>
        </p:blipFill>
        <p:spPr>
          <a:xfrm>
            <a:off x="548640" y="274320"/>
            <a:ext cx="237744" cy="237744"/>
          </a:xfrm>
          <a:prstGeom prst="rect">
            <a:avLst/>
          </a:prstGeom>
        </p:spPr>
      </p:pic>
      <p:sp>
        <p:nvSpPr>
          <p:cNvPr id="3" name="Text 0"/>
          <p:cNvSpPr txBox="1"/>
          <p:nvPr/>
        </p:nvSpPr>
        <p:spPr>
          <a:xfrm>
            <a:off x="841248" y="256032"/>
            <a:ext cx="4114800" cy="274320"/>
          </a:xfrm>
          <a:prstGeom prst="rect">
            <a:avLst/>
          </a:prstGeom>
          <a:noFill/>
          <a:ln/>
        </p:spPr>
        <p:txBody>
          <a:bodyPr wrap="square" lIns="0" tIns="0" rIns="0" bIns="0" rtlCol="0" anchor="ctr"/>
          <a:lstStyle/>
          <a:p>
            <a:pPr indent="0" marL="0">
              <a:buNone/>
            </a:pPr>
            <a:r>
              <a:rPr lang="en-US" sz="1100" b="1" dirty="0">
                <a:solidFill>
                  <a:srgbClr val="14161C"/>
                </a:solidFill>
                <a:latin typeface="Arial" pitchFamily="34" charset="0"/>
                <a:ea typeface="Arial" pitchFamily="34" charset="-122"/>
                <a:cs typeface="Arial" pitchFamily="34" charset="-120"/>
              </a:rPr>
              <a:t>ForgeFlow</a:t>
            </a:r>
            <a:pPr indent="0" marL="0">
              <a:buNone/>
            </a:pPr>
            <a:r>
              <a:rPr lang="en-US" sz="1100" dirty="0">
                <a:solidFill>
                  <a:srgbClr val="565C6B"/>
                </a:solidFill>
                <a:latin typeface="Arial" pitchFamily="34" charset="0"/>
                <a:ea typeface="Arial" pitchFamily="34" charset="-122"/>
                <a:cs typeface="Arial" pitchFamily="34" charset="-120"/>
              </a:rPr>
              <a:t>   CA-2 DevOps</a:t>
            </a:r>
            <a:endParaRPr lang="en-US" sz="1100" dirty="0"/>
          </a:p>
        </p:txBody>
      </p:sp>
      <p:sp>
        <p:nvSpPr>
          <p:cNvPr id="4" name="Text 1"/>
          <p:cNvSpPr txBox="1"/>
          <p:nvPr/>
        </p:nvSpPr>
        <p:spPr>
          <a:xfrm>
            <a:off x="9811512" y="256032"/>
            <a:ext cx="1828800" cy="274320"/>
          </a:xfrm>
          <a:prstGeom prst="rect">
            <a:avLst/>
          </a:prstGeom>
          <a:noFill/>
          <a:ln/>
        </p:spPr>
        <p:txBody>
          <a:bodyPr wrap="square" lIns="0" tIns="0" rIns="0" bIns="0" rtlCol="0" anchor="ctr"/>
          <a:lstStyle/>
          <a:p>
            <a:pPr algn="r" indent="0" marL="0">
              <a:buNone/>
            </a:pPr>
            <a:r>
              <a:rPr lang="en-US" sz="1000" dirty="0">
                <a:solidFill>
                  <a:srgbClr val="878D9C"/>
                </a:solidFill>
                <a:latin typeface="Courier New" pitchFamily="34" charset="0"/>
                <a:ea typeface="Courier New" pitchFamily="34" charset="-122"/>
                <a:cs typeface="Courier New" pitchFamily="34" charset="-120"/>
              </a:rPr>
              <a:t>05 / 07</a:t>
            </a:r>
            <a:endParaRPr lang="en-US" sz="1000" dirty="0"/>
          </a:p>
        </p:txBody>
      </p:sp>
      <p:sp>
        <p:nvSpPr>
          <p:cNvPr id="5" name="Text 2"/>
          <p:cNvSpPr txBox="1"/>
          <p:nvPr/>
        </p:nvSpPr>
        <p:spPr>
          <a:xfrm>
            <a:off x="548640" y="713232"/>
            <a:ext cx="7315200" cy="256032"/>
          </a:xfrm>
          <a:prstGeom prst="rect">
            <a:avLst/>
          </a:prstGeom>
          <a:noFill/>
          <a:ln/>
        </p:spPr>
        <p:txBody>
          <a:bodyPr wrap="square" lIns="0" tIns="0" rIns="0" bIns="0" rtlCol="0" anchor="ctr"/>
          <a:lstStyle/>
          <a:p>
            <a:pPr indent="0" marL="0">
              <a:buNone/>
            </a:pPr>
            <a:r>
              <a:rPr lang="en-US" sz="1050" b="1" spc="300" kern="0" dirty="0">
                <a:solidFill>
                  <a:srgbClr val="5457E0"/>
                </a:solidFill>
                <a:latin typeface="Arial" pitchFamily="34" charset="0"/>
                <a:ea typeface="Arial" pitchFamily="34" charset="-122"/>
                <a:cs typeface="Arial" pitchFamily="34" charset="-120"/>
              </a:rPr>
              <a:t>LESSONS LEARNED</a:t>
            </a:r>
            <a:endParaRPr lang="en-US" sz="1050" dirty="0"/>
          </a:p>
        </p:txBody>
      </p:sp>
      <p:sp>
        <p:nvSpPr>
          <p:cNvPr id="6" name="Text 3"/>
          <p:cNvSpPr txBox="1"/>
          <p:nvPr/>
        </p:nvSpPr>
        <p:spPr>
          <a:xfrm>
            <a:off x="548640" y="969264"/>
            <a:ext cx="11064240" cy="603504"/>
          </a:xfrm>
          <a:prstGeom prst="rect">
            <a:avLst/>
          </a:prstGeom>
          <a:noFill/>
          <a:ln/>
        </p:spPr>
        <p:txBody>
          <a:bodyPr wrap="square" lIns="0" tIns="0" rIns="0" bIns="0" rtlCol="0" anchor="ctr"/>
          <a:lstStyle/>
          <a:p>
            <a:pPr indent="0" marL="0">
              <a:buNone/>
            </a:pPr>
            <a:r>
              <a:rPr lang="en-US" sz="3000" b="1" dirty="0">
                <a:solidFill>
                  <a:srgbClr val="14161C"/>
                </a:solidFill>
                <a:latin typeface="Arial" pitchFamily="34" charset="0"/>
                <a:ea typeface="Arial" pitchFamily="34" charset="-122"/>
                <a:cs typeface="Arial" pitchFamily="34" charset="-120"/>
              </a:rPr>
              <a:t>Validate by execution,</a:t>
            </a:r>
            <a:pPr indent="0" marL="0">
              <a:buNone/>
            </a:pPr>
            <a:r>
              <a:rPr lang="en-US" sz="3000" b="1" dirty="0">
                <a:solidFill>
                  <a:srgbClr val="565C6B"/>
                </a:solidFill>
                <a:latin typeface="Arial" pitchFamily="34" charset="0"/>
                <a:ea typeface="Arial" pitchFamily="34" charset="-122"/>
                <a:cs typeface="Arial" pitchFamily="34" charset="-120"/>
              </a:rPr>
              <a:t> not by inspection</a:t>
            </a:r>
            <a:endParaRPr lang="en-US" sz="3000" dirty="0"/>
          </a:p>
        </p:txBody>
      </p:sp>
      <p:sp>
        <p:nvSpPr>
          <p:cNvPr id="7" name="Shape 4"/>
          <p:cNvSpPr/>
          <p:nvPr/>
        </p:nvSpPr>
        <p:spPr>
          <a:xfrm>
            <a:off x="548640" y="1783080"/>
            <a:ext cx="4343400" cy="4800600"/>
          </a:xfrm>
          <a:prstGeom prst="roundRect">
            <a:avLst>
              <a:gd name="adj" fmla="val 1684"/>
            </a:avLst>
          </a:prstGeom>
          <a:solidFill>
            <a:srgbClr val="FFFFFF"/>
          </a:solidFill>
          <a:ln w="12700">
            <a:solidFill>
              <a:srgbClr val="E2E4EC"/>
            </a:solidFill>
            <a:prstDash val="solid"/>
          </a:ln>
          <a:effectLst>
            <a:outerShdw sx="100000" sy="100000" kx="0" ky="0" algn="bl" rotWithShape="0" blurRad="101600" dist="25400" dir="5400000">
              <a:srgbClr val="14161C">
                <a:alpha val="8000"/>
              </a:srgbClr>
            </a:outerShdw>
          </a:effectLst>
        </p:spPr>
      </p:sp>
      <p:sp>
        <p:nvSpPr>
          <p:cNvPr id="8" name="Text 5"/>
          <p:cNvSpPr txBox="1"/>
          <p:nvPr/>
        </p:nvSpPr>
        <p:spPr>
          <a:xfrm>
            <a:off x="749808" y="1938528"/>
            <a:ext cx="3931920" cy="960120"/>
          </a:xfrm>
          <a:prstGeom prst="rect">
            <a:avLst/>
          </a:prstGeom>
          <a:noFill/>
          <a:ln/>
        </p:spPr>
        <p:txBody>
          <a:bodyPr wrap="square" lIns="0" tIns="0" rIns="0" bIns="0" rtlCol="0" anchor="t"/>
          <a:lstStyle/>
          <a:p>
            <a:pPr indent="0" marL="0">
              <a:buNone/>
            </a:pPr>
            <a:r>
              <a:rPr lang="en-US" sz="1300" dirty="0">
                <a:solidFill>
                  <a:srgbClr val="14161C"/>
                </a:solidFill>
                <a:latin typeface="Arial" pitchFamily="34" charset="0"/>
                <a:ea typeface="Arial" pitchFamily="34" charset="-122"/>
                <a:cs typeface="Arial" pitchFamily="34" charset="-120"/>
              </a:rPr>
              <a:t>A throwaway k3s cluster and a real Prometheus took about an hour to set up and found </a:t>
            </a:r>
            <a:pPr indent="0" marL="0">
              <a:buNone/>
            </a:pPr>
            <a:r>
              <a:rPr lang="en-US" sz="1300" b="1" dirty="0">
                <a:solidFill>
                  <a:srgbClr val="14161C"/>
                </a:solidFill>
                <a:latin typeface="Arial" pitchFamily="34" charset="0"/>
                <a:ea typeface="Arial" pitchFamily="34" charset="-122"/>
                <a:cs typeface="Arial" pitchFamily="34" charset="-120"/>
              </a:rPr>
              <a:t>five genuine bugs</a:t>
            </a:r>
            <a:pPr indent="0" marL="0">
              <a:buNone/>
            </a:pPr>
            <a:r>
              <a:rPr lang="en-US" sz="1300" dirty="0">
                <a:solidFill>
                  <a:srgbClr val="14161C"/>
                </a:solidFill>
                <a:latin typeface="Arial" pitchFamily="34" charset="0"/>
                <a:ea typeface="Arial" pitchFamily="34" charset="-122"/>
                <a:cs typeface="Arial" pitchFamily="34" charset="-120"/>
              </a:rPr>
              <a:t> that every linter had passed.</a:t>
            </a:r>
            <a:endParaRPr lang="en-US" sz="1300" dirty="0"/>
          </a:p>
        </p:txBody>
      </p:sp>
      <p:sp>
        <p:nvSpPr>
          <p:cNvPr id="9" name="Text 6"/>
          <p:cNvSpPr txBox="1"/>
          <p:nvPr/>
        </p:nvSpPr>
        <p:spPr>
          <a:xfrm>
            <a:off x="749808" y="2926080"/>
            <a:ext cx="3931920" cy="1051560"/>
          </a:xfrm>
          <a:prstGeom prst="rect">
            <a:avLst/>
          </a:prstGeom>
          <a:noFill/>
          <a:ln/>
        </p:spPr>
        <p:txBody>
          <a:bodyPr wrap="square" lIns="0" tIns="0" rIns="0" bIns="0" rtlCol="0" anchor="t"/>
          <a:lstStyle/>
          <a:p>
            <a:pPr indent="0" marL="0">
              <a:buNone/>
            </a:pPr>
            <a:r>
              <a:rPr lang="en-US" sz="1100" dirty="0">
                <a:solidFill>
                  <a:srgbClr val="565C6B"/>
                </a:solidFill>
                <a:latin typeface="Arial" pitchFamily="34" charset="0"/>
                <a:ea typeface="Arial" pitchFamily="34" charset="-122"/>
                <a:cs typeface="Arial" pitchFamily="34" charset="-120"/>
              </a:rPr>
              <a:t>The Caddy label bug, the :443 bind, the missing WebSocket headers, the blank error panel and the cAdvisor relabel collision: all syntactically valid, all obvious within seconds of a real request.</a:t>
            </a:r>
            <a:endParaRPr lang="en-US" sz="1100" dirty="0"/>
          </a:p>
        </p:txBody>
      </p:sp>
      <p:sp>
        <p:nvSpPr>
          <p:cNvPr id="10" name="Shape 7"/>
          <p:cNvSpPr/>
          <p:nvPr/>
        </p:nvSpPr>
        <p:spPr>
          <a:xfrm>
            <a:off x="749808" y="4206240"/>
            <a:ext cx="1243584" cy="2148840"/>
          </a:xfrm>
          <a:prstGeom prst="roundRect">
            <a:avLst>
              <a:gd name="adj" fmla="val 5882"/>
            </a:avLst>
          </a:prstGeom>
          <a:solidFill>
            <a:srgbClr val="F3F4F8"/>
          </a:solidFill>
          <a:ln w="12700">
            <a:solidFill>
              <a:srgbClr val="E2E4EC"/>
            </a:solidFill>
            <a:prstDash val="solid"/>
          </a:ln>
        </p:spPr>
      </p:sp>
      <p:sp>
        <p:nvSpPr>
          <p:cNvPr id="11" name="Text 8"/>
          <p:cNvSpPr txBox="1"/>
          <p:nvPr/>
        </p:nvSpPr>
        <p:spPr>
          <a:xfrm>
            <a:off x="822960" y="4343400"/>
            <a:ext cx="1097280" cy="822960"/>
          </a:xfrm>
          <a:prstGeom prst="rect">
            <a:avLst/>
          </a:prstGeom>
          <a:noFill/>
          <a:ln/>
        </p:spPr>
        <p:txBody>
          <a:bodyPr wrap="square" lIns="0" tIns="0" rIns="0" bIns="0" rtlCol="0" anchor="ctr"/>
          <a:lstStyle/>
          <a:p>
            <a:pPr algn="ctr" indent="0" marL="0">
              <a:buNone/>
            </a:pPr>
            <a:r>
              <a:rPr lang="en-US" sz="1500" b="1" dirty="0">
                <a:solidFill>
                  <a:srgbClr val="14161C"/>
                </a:solidFill>
                <a:latin typeface="Arial" pitchFamily="34" charset="0"/>
                <a:ea typeface="Arial" pitchFamily="34" charset="-122"/>
                <a:cs typeface="Arial" pitchFamily="34" charset="-120"/>
              </a:rPr>
              <a:t>real, v1.31.4</a:t>
            </a:r>
            <a:endParaRPr lang="en-US" sz="1500" dirty="0"/>
          </a:p>
        </p:txBody>
      </p:sp>
      <p:sp>
        <p:nvSpPr>
          <p:cNvPr id="12" name="Text 9"/>
          <p:cNvSpPr txBox="1"/>
          <p:nvPr/>
        </p:nvSpPr>
        <p:spPr>
          <a:xfrm>
            <a:off x="822960" y="5669280"/>
            <a:ext cx="1097280" cy="502920"/>
          </a:xfrm>
          <a:prstGeom prst="rect">
            <a:avLst/>
          </a:prstGeom>
          <a:noFill/>
          <a:ln/>
        </p:spPr>
        <p:txBody>
          <a:bodyPr wrap="square" lIns="0" tIns="0" rIns="0" bIns="0" rtlCol="0" anchor="t"/>
          <a:lstStyle/>
          <a:p>
            <a:pPr algn="ctr" indent="0" marL="0">
              <a:buNone/>
            </a:pPr>
            <a:r>
              <a:rPr lang="en-US" sz="1050" dirty="0">
                <a:solidFill>
                  <a:srgbClr val="565C6B"/>
                </a:solidFill>
                <a:latin typeface="Arial" pitchFamily="34" charset="0"/>
                <a:ea typeface="Arial" pitchFamily="34" charset="-122"/>
                <a:cs typeface="Arial" pitchFamily="34" charset="-120"/>
              </a:rPr>
              <a:t>k3s cluster</a:t>
            </a:r>
            <a:endParaRPr lang="en-US" sz="1050" dirty="0"/>
          </a:p>
        </p:txBody>
      </p:sp>
      <p:sp>
        <p:nvSpPr>
          <p:cNvPr id="13" name="Shape 10"/>
          <p:cNvSpPr/>
          <p:nvPr/>
        </p:nvSpPr>
        <p:spPr>
          <a:xfrm>
            <a:off x="2093976" y="4206240"/>
            <a:ext cx="1243584" cy="2148840"/>
          </a:xfrm>
          <a:prstGeom prst="roundRect">
            <a:avLst>
              <a:gd name="adj" fmla="val 5882"/>
            </a:avLst>
          </a:prstGeom>
          <a:solidFill>
            <a:srgbClr val="F3F4F8"/>
          </a:solidFill>
          <a:ln w="12700">
            <a:solidFill>
              <a:srgbClr val="E2E4EC"/>
            </a:solidFill>
            <a:prstDash val="solid"/>
          </a:ln>
        </p:spPr>
      </p:sp>
      <p:sp>
        <p:nvSpPr>
          <p:cNvPr id="14" name="Text 11"/>
          <p:cNvSpPr txBox="1"/>
          <p:nvPr/>
        </p:nvSpPr>
        <p:spPr>
          <a:xfrm>
            <a:off x="2167128" y="4343400"/>
            <a:ext cx="1097280" cy="1097280"/>
          </a:xfrm>
          <a:prstGeom prst="rect">
            <a:avLst/>
          </a:prstGeom>
          <a:noFill/>
          <a:ln/>
        </p:spPr>
        <p:txBody>
          <a:bodyPr wrap="square" lIns="0" tIns="0" rIns="0" bIns="0" rtlCol="0" anchor="ctr"/>
          <a:lstStyle/>
          <a:p>
            <a:pPr algn="ctr" indent="0" marL="0">
              <a:buNone/>
            </a:pPr>
            <a:r>
              <a:rPr lang="en-US" sz="4400" b="1" dirty="0">
                <a:solidFill>
                  <a:srgbClr val="5457E0"/>
                </a:solidFill>
                <a:latin typeface="Arial" pitchFamily="34" charset="0"/>
                <a:ea typeface="Arial" pitchFamily="34" charset="-122"/>
                <a:cs typeface="Arial" pitchFamily="34" charset="-120"/>
              </a:rPr>
              <a:t>5</a:t>
            </a:r>
            <a:endParaRPr lang="en-US" sz="4400" dirty="0"/>
          </a:p>
        </p:txBody>
      </p:sp>
      <p:sp>
        <p:nvSpPr>
          <p:cNvPr id="15" name="Text 12"/>
          <p:cNvSpPr txBox="1"/>
          <p:nvPr/>
        </p:nvSpPr>
        <p:spPr>
          <a:xfrm>
            <a:off x="2167128" y="5669280"/>
            <a:ext cx="1097280" cy="502920"/>
          </a:xfrm>
          <a:prstGeom prst="rect">
            <a:avLst/>
          </a:prstGeom>
          <a:noFill/>
          <a:ln/>
        </p:spPr>
        <p:txBody>
          <a:bodyPr wrap="square" lIns="0" tIns="0" rIns="0" bIns="0" rtlCol="0" anchor="t"/>
          <a:lstStyle/>
          <a:p>
            <a:pPr algn="ctr" indent="0" marL="0">
              <a:buNone/>
            </a:pPr>
            <a:r>
              <a:rPr lang="en-US" sz="1050" dirty="0">
                <a:solidFill>
                  <a:srgbClr val="565C6B"/>
                </a:solidFill>
                <a:latin typeface="Arial" pitchFamily="34" charset="0"/>
                <a:ea typeface="Arial" pitchFamily="34" charset="-122"/>
                <a:cs typeface="Arial" pitchFamily="34" charset="-120"/>
              </a:rPr>
              <a:t>bugs found</a:t>
            </a:r>
            <a:endParaRPr lang="en-US" sz="1050" dirty="0"/>
          </a:p>
        </p:txBody>
      </p:sp>
      <p:sp>
        <p:nvSpPr>
          <p:cNvPr id="16" name="Shape 13"/>
          <p:cNvSpPr/>
          <p:nvPr/>
        </p:nvSpPr>
        <p:spPr>
          <a:xfrm>
            <a:off x="3438144" y="4206240"/>
            <a:ext cx="1243584" cy="2148840"/>
          </a:xfrm>
          <a:prstGeom prst="roundRect">
            <a:avLst>
              <a:gd name="adj" fmla="val 5882"/>
            </a:avLst>
          </a:prstGeom>
          <a:solidFill>
            <a:srgbClr val="F3F4F8"/>
          </a:solidFill>
          <a:ln w="12700">
            <a:solidFill>
              <a:srgbClr val="E2E4EC"/>
            </a:solidFill>
            <a:prstDash val="solid"/>
          </a:ln>
        </p:spPr>
      </p:sp>
      <p:sp>
        <p:nvSpPr>
          <p:cNvPr id="17" name="Text 14"/>
          <p:cNvSpPr txBox="1"/>
          <p:nvPr/>
        </p:nvSpPr>
        <p:spPr>
          <a:xfrm>
            <a:off x="3511296" y="4343400"/>
            <a:ext cx="1097280" cy="1097280"/>
          </a:xfrm>
          <a:prstGeom prst="rect">
            <a:avLst/>
          </a:prstGeom>
          <a:noFill/>
          <a:ln/>
        </p:spPr>
        <p:txBody>
          <a:bodyPr wrap="square" lIns="0" tIns="0" rIns="0" bIns="0" rtlCol="0" anchor="ctr"/>
          <a:lstStyle/>
          <a:p>
            <a:pPr algn="ctr" indent="0" marL="0">
              <a:buNone/>
            </a:pPr>
            <a:r>
              <a:rPr lang="en-US" sz="4400" b="1" dirty="0">
                <a:solidFill>
                  <a:srgbClr val="C02626"/>
                </a:solidFill>
                <a:latin typeface="Arial" pitchFamily="34" charset="0"/>
                <a:ea typeface="Arial" pitchFamily="34" charset="-122"/>
                <a:cs typeface="Arial" pitchFamily="34" charset="-120"/>
              </a:rPr>
              <a:t>0</a:t>
            </a:r>
            <a:endParaRPr lang="en-US" sz="4400" dirty="0"/>
          </a:p>
        </p:txBody>
      </p:sp>
      <p:sp>
        <p:nvSpPr>
          <p:cNvPr id="18" name="Text 15"/>
          <p:cNvSpPr txBox="1"/>
          <p:nvPr/>
        </p:nvSpPr>
        <p:spPr>
          <a:xfrm>
            <a:off x="3511296" y="5669280"/>
            <a:ext cx="1097280" cy="502920"/>
          </a:xfrm>
          <a:prstGeom prst="rect">
            <a:avLst/>
          </a:prstGeom>
          <a:noFill/>
          <a:ln/>
        </p:spPr>
        <p:txBody>
          <a:bodyPr wrap="square" lIns="0" tIns="0" rIns="0" bIns="0" rtlCol="0" anchor="t"/>
          <a:lstStyle/>
          <a:p>
            <a:pPr algn="ctr" indent="0" marL="0">
              <a:buNone/>
            </a:pPr>
            <a:r>
              <a:rPr lang="en-US" sz="1050" dirty="0">
                <a:solidFill>
                  <a:srgbClr val="565C6B"/>
                </a:solidFill>
                <a:latin typeface="Arial" pitchFamily="34" charset="0"/>
                <a:ea typeface="Arial" pitchFamily="34" charset="-122"/>
                <a:cs typeface="Arial" pitchFamily="34" charset="-120"/>
              </a:rPr>
              <a:t>found by linting</a:t>
            </a:r>
            <a:endParaRPr lang="en-US" sz="1050" dirty="0"/>
          </a:p>
        </p:txBody>
      </p:sp>
      <p:sp>
        <p:nvSpPr>
          <p:cNvPr id="19" name="Shape 16"/>
          <p:cNvSpPr/>
          <p:nvPr/>
        </p:nvSpPr>
        <p:spPr>
          <a:xfrm>
            <a:off x="5074920" y="1783080"/>
            <a:ext cx="3200400" cy="2331720"/>
          </a:xfrm>
          <a:prstGeom prst="roundRect">
            <a:avLst>
              <a:gd name="adj" fmla="val 3137"/>
            </a:avLst>
          </a:prstGeom>
          <a:solidFill>
            <a:srgbClr val="FFFFFF"/>
          </a:solidFill>
          <a:ln w="12700">
            <a:solidFill>
              <a:srgbClr val="E2E4EC"/>
            </a:solidFill>
            <a:prstDash val="solid"/>
          </a:ln>
          <a:effectLst>
            <a:outerShdw sx="100000" sy="100000" kx="0" ky="0" algn="bl" rotWithShape="0" blurRad="101600" dist="25400" dir="5400000">
              <a:srgbClr val="14161C">
                <a:alpha val="8000"/>
              </a:srgbClr>
            </a:outerShdw>
          </a:effectLst>
        </p:spPr>
      </p:sp>
      <p:sp>
        <p:nvSpPr>
          <p:cNvPr id="20" name="Text 17"/>
          <p:cNvSpPr txBox="1"/>
          <p:nvPr/>
        </p:nvSpPr>
        <p:spPr>
          <a:xfrm>
            <a:off x="5239512" y="1892808"/>
            <a:ext cx="2871216" cy="412750"/>
          </a:xfrm>
          <a:prstGeom prst="rect">
            <a:avLst/>
          </a:prstGeom>
          <a:noFill/>
          <a:ln/>
        </p:spPr>
        <p:txBody>
          <a:bodyPr wrap="square" lIns="0" tIns="0" rIns="0" bIns="0" rtlCol="0" anchor="t"/>
          <a:lstStyle/>
          <a:p>
            <a:pPr indent="0" marL="0">
              <a:buNone/>
            </a:pPr>
            <a:r>
              <a:rPr lang="en-US" sz="1300" b="1" dirty="0">
                <a:solidFill>
                  <a:srgbClr val="14161C"/>
                </a:solidFill>
                <a:latin typeface="Arial" pitchFamily="34" charset="0"/>
                <a:ea typeface="Arial" pitchFamily="34" charset="-122"/>
                <a:cs typeface="Arial" pitchFamily="34" charset="-120"/>
              </a:rPr>
              <a:t>“Zero downtime” is a measurement</a:t>
            </a:r>
            <a:endParaRPr lang="en-US" sz="1300" dirty="0"/>
          </a:p>
        </p:txBody>
      </p:sp>
      <p:sp>
        <p:nvSpPr>
          <p:cNvPr id="21" name="Text 18"/>
          <p:cNvSpPr txBox="1"/>
          <p:nvPr/>
        </p:nvSpPr>
        <p:spPr>
          <a:xfrm>
            <a:off x="5239512" y="2360422"/>
            <a:ext cx="2871216" cy="1644650"/>
          </a:xfrm>
          <a:prstGeom prst="rect">
            <a:avLst/>
          </a:prstGeom>
          <a:noFill/>
          <a:ln/>
        </p:spPr>
        <p:txBody>
          <a:bodyPr wrap="square" lIns="0" tIns="0" rIns="0" bIns="0" rtlCol="0" anchor="t"/>
          <a:lstStyle/>
          <a:p>
            <a:pPr indent="0" marL="0">
              <a:spcAft>
                <a:spcPts val="400"/>
              </a:spcAft>
              <a:buNone/>
            </a:pPr>
            <a:r>
              <a:rPr lang="en-US" sz="1200" dirty="0">
                <a:solidFill>
                  <a:srgbClr val="565C6B"/>
                </a:solidFill>
                <a:latin typeface="Arial" pitchFamily="34" charset="0"/>
                <a:ea typeface="Arial" pitchFamily="34" charset="-122"/>
                <a:cs typeface="Arial" pitchFamily="34" charset="-120"/>
              </a:rPr>
              <a:t>A rolling update that looks fine proves nothing. </a:t>
            </a:r>
            <a:pPr indent="0" marL="0">
              <a:spcAft>
                <a:spcPts val="400"/>
              </a:spcAft>
              <a:buNone/>
            </a:pPr>
            <a:r>
              <a:rPr lang="en-US" sz="1200" b="1" dirty="0">
                <a:solidFill>
                  <a:srgbClr val="565C6B"/>
                </a:solidFill>
                <a:latin typeface="Arial" pitchFamily="34" charset="0"/>
                <a:ea typeface="Arial" pitchFamily="34" charset="-122"/>
                <a:cs typeface="Arial" pitchFamily="34" charset="-120"/>
              </a:rPr>
              <a:t>807 requests, 0 failures</a:t>
            </a:r>
            <a:pPr indent="0" marL="0">
              <a:spcAft>
                <a:spcPts val="400"/>
              </a:spcAft>
              <a:buNone/>
            </a:pPr>
            <a:r>
              <a:rPr lang="en-US" sz="1200" dirty="0">
                <a:solidFill>
                  <a:srgbClr val="565C6B"/>
                </a:solidFill>
                <a:latin typeface="Arial" pitchFamily="34" charset="0"/>
                <a:ea typeface="Arial" pitchFamily="34" charset="-122"/>
                <a:cs typeface="Arial" pitchFamily="34" charset="-120"/>
              </a:rPr>
              <a:t> across an update, a failed release and a rollback is a claim; watching pods change colour is an anecdote.</a:t>
            </a:r>
            <a:endParaRPr lang="en-US" sz="1200" dirty="0"/>
          </a:p>
        </p:txBody>
      </p:sp>
      <p:sp>
        <p:nvSpPr>
          <p:cNvPr id="22" name="Shape 19"/>
          <p:cNvSpPr/>
          <p:nvPr/>
        </p:nvSpPr>
        <p:spPr>
          <a:xfrm>
            <a:off x="8439912" y="1783080"/>
            <a:ext cx="3200400" cy="2331720"/>
          </a:xfrm>
          <a:prstGeom prst="roundRect">
            <a:avLst>
              <a:gd name="adj" fmla="val 3137"/>
            </a:avLst>
          </a:prstGeom>
          <a:solidFill>
            <a:srgbClr val="FFFFFF"/>
          </a:solidFill>
          <a:ln w="12700">
            <a:solidFill>
              <a:srgbClr val="E2E4EC"/>
            </a:solidFill>
            <a:prstDash val="solid"/>
          </a:ln>
          <a:effectLst>
            <a:outerShdw sx="100000" sy="100000" kx="0" ky="0" algn="bl" rotWithShape="0" blurRad="101600" dist="25400" dir="5400000">
              <a:srgbClr val="14161C">
                <a:alpha val="8000"/>
              </a:srgbClr>
            </a:outerShdw>
          </a:effectLst>
        </p:spPr>
      </p:sp>
      <p:sp>
        <p:nvSpPr>
          <p:cNvPr id="23" name="Text 20"/>
          <p:cNvSpPr txBox="1"/>
          <p:nvPr/>
        </p:nvSpPr>
        <p:spPr>
          <a:xfrm>
            <a:off x="8604504" y="1892808"/>
            <a:ext cx="2871216" cy="412750"/>
          </a:xfrm>
          <a:prstGeom prst="rect">
            <a:avLst/>
          </a:prstGeom>
          <a:noFill/>
          <a:ln/>
        </p:spPr>
        <p:txBody>
          <a:bodyPr wrap="square" lIns="0" tIns="0" rIns="0" bIns="0" rtlCol="0" anchor="t"/>
          <a:lstStyle/>
          <a:p>
            <a:pPr indent="0" marL="0">
              <a:buNone/>
            </a:pPr>
            <a:r>
              <a:rPr lang="en-US" sz="1300" b="1" dirty="0">
                <a:solidFill>
                  <a:srgbClr val="14161C"/>
                </a:solidFill>
                <a:latin typeface="Arial" pitchFamily="34" charset="0"/>
                <a:ea typeface="Arial" pitchFamily="34" charset="-122"/>
                <a:cs typeface="Arial" pitchFamily="34" charset="-120"/>
              </a:rPr>
              <a:t>A deploy that returns is not a deploy that worked</a:t>
            </a:r>
            <a:endParaRPr lang="en-US" sz="1300" dirty="0"/>
          </a:p>
        </p:txBody>
      </p:sp>
      <p:sp>
        <p:nvSpPr>
          <p:cNvPr id="24" name="Text 21"/>
          <p:cNvSpPr txBox="1"/>
          <p:nvPr/>
        </p:nvSpPr>
        <p:spPr>
          <a:xfrm>
            <a:off x="8604504" y="2360422"/>
            <a:ext cx="2871216" cy="1644650"/>
          </a:xfrm>
          <a:prstGeom prst="rect">
            <a:avLst/>
          </a:prstGeom>
          <a:noFill/>
          <a:ln/>
        </p:spPr>
        <p:txBody>
          <a:bodyPr wrap="square" lIns="0" tIns="0" rIns="0" bIns="0" rtlCol="0" anchor="t"/>
          <a:lstStyle/>
          <a:p>
            <a:pPr indent="0" marL="0">
              <a:spcAft>
                <a:spcPts val="400"/>
              </a:spcAft>
              <a:buNone/>
            </a:pPr>
            <a:r>
              <a:rPr lang="en-US" sz="1200" dirty="0">
                <a:solidFill>
                  <a:srgbClr val="14161C"/>
                </a:solidFill>
                <a:latin typeface="Courier New" pitchFamily="34" charset="0"/>
                <a:ea typeface="Courier New" pitchFamily="34" charset="-122"/>
                <a:cs typeface="Courier New" pitchFamily="34" charset="-120"/>
              </a:rPr>
              <a:t>kubectl set image</a:t>
            </a:r>
            <a:pPr indent="0" marL="0">
              <a:spcAft>
                <a:spcPts val="400"/>
              </a:spcAft>
              <a:buNone/>
            </a:pPr>
            <a:r>
              <a:rPr lang="en-US" sz="1200" dirty="0">
                <a:solidFill>
                  <a:srgbClr val="565C6B"/>
                </a:solidFill>
                <a:latin typeface="Arial" pitchFamily="34" charset="0"/>
                <a:ea typeface="Arial" pitchFamily="34" charset="-122"/>
                <a:cs typeface="Arial" pitchFamily="34" charset="-120"/>
              </a:rPr>
              <a:t> and </a:t>
            </a:r>
            <a:pPr indent="0" marL="0">
              <a:spcAft>
                <a:spcPts val="400"/>
              </a:spcAft>
              <a:buNone/>
            </a:pPr>
            <a:r>
              <a:rPr lang="en-US" sz="1200" dirty="0">
                <a:solidFill>
                  <a:srgbClr val="14161C"/>
                </a:solidFill>
                <a:latin typeface="Courier New" pitchFamily="34" charset="0"/>
                <a:ea typeface="Courier New" pitchFamily="34" charset="-122"/>
                <a:cs typeface="Courier New" pitchFamily="34" charset="-120"/>
              </a:rPr>
              <a:t>compose up -d</a:t>
            </a:r>
            <a:pPr indent="0" marL="0">
              <a:spcAft>
                <a:spcPts val="400"/>
              </a:spcAft>
              <a:buNone/>
            </a:pPr>
            <a:r>
              <a:rPr lang="en-US" sz="1200" dirty="0">
                <a:solidFill>
                  <a:srgbClr val="565C6B"/>
                </a:solidFill>
                <a:latin typeface="Arial" pitchFamily="34" charset="0"/>
                <a:ea typeface="Arial" pitchFamily="34" charset="-122"/>
                <a:cs typeface="Arial" pitchFamily="34" charset="-120"/>
              </a:rPr>
              <a:t> return before anything serves. Every deploy path waits on a real health signal, and that timeout is what makes automatic rollback possible.</a:t>
            </a:r>
            <a:endParaRPr lang="en-US" sz="1200" dirty="0"/>
          </a:p>
        </p:txBody>
      </p:sp>
      <p:sp>
        <p:nvSpPr>
          <p:cNvPr id="25" name="Shape 22"/>
          <p:cNvSpPr/>
          <p:nvPr/>
        </p:nvSpPr>
        <p:spPr>
          <a:xfrm>
            <a:off x="5074920" y="4251960"/>
            <a:ext cx="3200400" cy="2331720"/>
          </a:xfrm>
          <a:prstGeom prst="roundRect">
            <a:avLst>
              <a:gd name="adj" fmla="val 3137"/>
            </a:avLst>
          </a:prstGeom>
          <a:solidFill>
            <a:srgbClr val="FFFFFF"/>
          </a:solidFill>
          <a:ln w="12700">
            <a:solidFill>
              <a:srgbClr val="E2E4EC"/>
            </a:solidFill>
            <a:prstDash val="solid"/>
          </a:ln>
          <a:effectLst>
            <a:outerShdw sx="100000" sy="100000" kx="0" ky="0" algn="bl" rotWithShape="0" blurRad="101600" dist="25400" dir="5400000">
              <a:srgbClr val="14161C">
                <a:alpha val="8000"/>
              </a:srgbClr>
            </a:outerShdw>
          </a:effectLst>
        </p:spPr>
      </p:sp>
      <p:sp>
        <p:nvSpPr>
          <p:cNvPr id="26" name="Text 23"/>
          <p:cNvSpPr txBox="1"/>
          <p:nvPr/>
        </p:nvSpPr>
        <p:spPr>
          <a:xfrm>
            <a:off x="5239512" y="4361688"/>
            <a:ext cx="2871216" cy="329184"/>
          </a:xfrm>
          <a:prstGeom prst="rect">
            <a:avLst/>
          </a:prstGeom>
          <a:noFill/>
          <a:ln/>
        </p:spPr>
        <p:txBody>
          <a:bodyPr wrap="square" lIns="0" tIns="0" rIns="0" bIns="0" rtlCol="0" anchor="t"/>
          <a:lstStyle/>
          <a:p>
            <a:pPr indent="0" marL="0">
              <a:buNone/>
            </a:pPr>
            <a:r>
              <a:rPr lang="en-US" sz="1300" b="1" dirty="0">
                <a:solidFill>
                  <a:srgbClr val="14161C"/>
                </a:solidFill>
                <a:latin typeface="Arial" pitchFamily="34" charset="0"/>
                <a:ea typeface="Arial" pitchFamily="34" charset="-122"/>
                <a:cs typeface="Arial" pitchFamily="34" charset="-120"/>
              </a:rPr>
              <a:t>Make the dangerous thing loud</a:t>
            </a:r>
            <a:endParaRPr lang="en-US" sz="1300" dirty="0"/>
          </a:p>
        </p:txBody>
      </p:sp>
      <p:sp>
        <p:nvSpPr>
          <p:cNvPr id="27" name="Text 24"/>
          <p:cNvSpPr txBox="1"/>
          <p:nvPr/>
        </p:nvSpPr>
        <p:spPr>
          <a:xfrm>
            <a:off x="5239512" y="4745736"/>
            <a:ext cx="2871216" cy="1728216"/>
          </a:xfrm>
          <a:prstGeom prst="rect">
            <a:avLst/>
          </a:prstGeom>
          <a:noFill/>
          <a:ln/>
        </p:spPr>
        <p:txBody>
          <a:bodyPr wrap="square" lIns="0" tIns="0" rIns="0" bIns="0" rtlCol="0" anchor="t"/>
          <a:lstStyle/>
          <a:p>
            <a:pPr indent="0" marL="0">
              <a:spcAft>
                <a:spcPts val="400"/>
              </a:spcAft>
              <a:buNone/>
            </a:pPr>
            <a:r>
              <a:rPr lang="en-US" sz="1200" dirty="0">
                <a:solidFill>
                  <a:srgbClr val="565C6B"/>
                </a:solidFill>
                <a:latin typeface="Arial" pitchFamily="34" charset="0"/>
                <a:ea typeface="Arial" pitchFamily="34" charset="-122"/>
                <a:cs typeface="Arial" pitchFamily="34" charset="-120"/>
              </a:rPr>
              <a:t>Regenerating </a:t>
            </a:r>
            <a:pPr indent="0" marL="0">
              <a:spcAft>
                <a:spcPts val="400"/>
              </a:spcAft>
              <a:buNone/>
            </a:pPr>
            <a:r>
              <a:rPr lang="en-US" sz="1200" dirty="0">
                <a:solidFill>
                  <a:srgbClr val="14161C"/>
                </a:solidFill>
                <a:latin typeface="Courier New" pitchFamily="34" charset="0"/>
                <a:ea typeface="Courier New" pitchFamily="34" charset="-122"/>
                <a:cs typeface="Courier New" pitchFamily="34" charset="-120"/>
              </a:rPr>
              <a:t>FERNET_KEY</a:t>
            </a:r>
            <a:pPr indent="0" marL="0">
              <a:spcAft>
                <a:spcPts val="400"/>
              </a:spcAft>
              <a:buNone/>
            </a:pPr>
            <a:r>
              <a:rPr lang="en-US" sz="1200" dirty="0">
                <a:solidFill>
                  <a:srgbClr val="565C6B"/>
                </a:solidFill>
                <a:latin typeface="Arial" pitchFamily="34" charset="0"/>
                <a:ea typeface="Arial" pitchFamily="34" charset="-122"/>
                <a:cs typeface="Arial" pitchFamily="34" charset="-120"/>
              </a:rPr>
              <a:t> would make every stored credential undecryptable. The playbook reads the existing key back instead of re-templating it. Idempotency is the difference between a re-run and data loss.</a:t>
            </a:r>
            <a:endParaRPr lang="en-US" sz="1200" dirty="0"/>
          </a:p>
        </p:txBody>
      </p:sp>
      <p:sp>
        <p:nvSpPr>
          <p:cNvPr id="28" name="Shape 25"/>
          <p:cNvSpPr/>
          <p:nvPr/>
        </p:nvSpPr>
        <p:spPr>
          <a:xfrm>
            <a:off x="8439912" y="4251960"/>
            <a:ext cx="3200400" cy="2331720"/>
          </a:xfrm>
          <a:prstGeom prst="roundRect">
            <a:avLst>
              <a:gd name="adj" fmla="val 3137"/>
            </a:avLst>
          </a:prstGeom>
          <a:solidFill>
            <a:srgbClr val="FFFFFF"/>
          </a:solidFill>
          <a:ln w="12700">
            <a:solidFill>
              <a:srgbClr val="E2E4EC"/>
            </a:solidFill>
            <a:prstDash val="solid"/>
          </a:ln>
          <a:effectLst>
            <a:outerShdw sx="100000" sy="100000" kx="0" ky="0" algn="bl" rotWithShape="0" blurRad="101600" dist="25400" dir="5400000">
              <a:srgbClr val="14161C">
                <a:alpha val="8000"/>
              </a:srgbClr>
            </a:outerShdw>
          </a:effectLst>
        </p:spPr>
      </p:sp>
      <p:sp>
        <p:nvSpPr>
          <p:cNvPr id="29" name="Text 26"/>
          <p:cNvSpPr txBox="1"/>
          <p:nvPr/>
        </p:nvSpPr>
        <p:spPr>
          <a:xfrm>
            <a:off x="8604504" y="4361688"/>
            <a:ext cx="2871216" cy="412750"/>
          </a:xfrm>
          <a:prstGeom prst="rect">
            <a:avLst/>
          </a:prstGeom>
          <a:noFill/>
          <a:ln/>
        </p:spPr>
        <p:txBody>
          <a:bodyPr wrap="square" lIns="0" tIns="0" rIns="0" bIns="0" rtlCol="0" anchor="t"/>
          <a:lstStyle/>
          <a:p>
            <a:pPr indent="0" marL="0">
              <a:buNone/>
            </a:pPr>
            <a:r>
              <a:rPr lang="en-US" sz="1300" b="1" dirty="0">
                <a:solidFill>
                  <a:srgbClr val="14161C"/>
                </a:solidFill>
                <a:latin typeface="Arial" pitchFamily="34" charset="0"/>
                <a:ea typeface="Arial" pitchFamily="34" charset="-122"/>
                <a:cs typeface="Arial" pitchFamily="34" charset="-120"/>
              </a:rPr>
              <a:t>Be a good neighbour on a shared box</a:t>
            </a:r>
            <a:endParaRPr lang="en-US" sz="1300" dirty="0"/>
          </a:p>
        </p:txBody>
      </p:sp>
      <p:sp>
        <p:nvSpPr>
          <p:cNvPr id="30" name="Text 27"/>
          <p:cNvSpPr txBox="1"/>
          <p:nvPr/>
        </p:nvSpPr>
        <p:spPr>
          <a:xfrm>
            <a:off x="8604504" y="4829302"/>
            <a:ext cx="2871216" cy="1644650"/>
          </a:xfrm>
          <a:prstGeom prst="rect">
            <a:avLst/>
          </a:prstGeom>
          <a:noFill/>
          <a:ln/>
        </p:spPr>
        <p:txBody>
          <a:bodyPr wrap="square" lIns="0" tIns="0" rIns="0" bIns="0" rtlCol="0" anchor="t"/>
          <a:lstStyle/>
          <a:p>
            <a:pPr indent="0" marL="0">
              <a:spcAft>
                <a:spcPts val="400"/>
              </a:spcAft>
              <a:buNone/>
            </a:pPr>
            <a:r>
              <a:rPr lang="en-US" sz="1200" dirty="0">
                <a:solidFill>
                  <a:srgbClr val="565C6B"/>
                </a:solidFill>
                <a:latin typeface="Arial" pitchFamily="34" charset="0"/>
                <a:ea typeface="Arial" pitchFamily="34" charset="-122"/>
                <a:cs typeface="Arial" pitchFamily="34" charset="-120"/>
              </a:rPr>
              <a:t>The VM already runs another project. The nginx role writes exactly one file, never touches </a:t>
            </a:r>
            <a:pPr indent="0" marL="0">
              <a:spcAft>
                <a:spcPts val="400"/>
              </a:spcAft>
              <a:buNone/>
            </a:pPr>
            <a:r>
              <a:rPr lang="en-US" sz="1200" dirty="0">
                <a:solidFill>
                  <a:srgbClr val="14161C"/>
                </a:solidFill>
                <a:latin typeface="Courier New" pitchFamily="34" charset="0"/>
                <a:ea typeface="Courier New" pitchFamily="34" charset="-122"/>
                <a:cs typeface="Courier New" pitchFamily="34" charset="-120"/>
              </a:rPr>
              <a:t>nginx.conf</a:t>
            </a:r>
            <a:pPr indent="0" marL="0">
              <a:spcAft>
                <a:spcPts val="400"/>
              </a:spcAft>
              <a:buNone/>
            </a:pPr>
            <a:r>
              <a:rPr lang="en-US" sz="1200" dirty="0">
                <a:solidFill>
                  <a:srgbClr val="565C6B"/>
                </a:solidFill>
                <a:latin typeface="Arial" pitchFamily="34" charset="0"/>
                <a:ea typeface="Arial" pitchFamily="34" charset="-122"/>
                <a:cs typeface="Arial" pitchFamily="34" charset="-120"/>
              </a:rPr>
              <a:t>, validates before reloading, and reloads rather than restarts.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D"/>
        </a:solidFill>
      </p:bgPr>
    </p:bg>
    <p:spTree>
      <p:nvGrpSpPr>
        <p:cNvPr id="1" name=""/>
        <p:cNvGrpSpPr/>
        <p:nvPr/>
      </p:nvGrpSpPr>
      <p:grpSpPr>
        <a:xfrm>
          <a:off x="0" y="0"/>
          <a:ext cx="0" cy="0"/>
          <a:chOff x="0" y="0"/>
          <a:chExt cx="0" cy="0"/>
        </a:xfrm>
      </p:grpSpPr>
      <p:pic>
        <p:nvPicPr>
          <p:cNvPr id="2" name="Image 0" descr="/tmp/claude-0/-home-user-ForgeFlow/c54c4f28-0214-5817-a71a-61a1132558a0/scratchpad/img/mark.png">    </p:cNvPr>
          <p:cNvPicPr>
            <a:picLocks noChangeAspect="1"/>
          </p:cNvPicPr>
          <p:nvPr/>
        </p:nvPicPr>
        <p:blipFill>
          <a:blip r:embed="rId1"/>
          <a:stretch>
            <a:fillRect/>
          </a:stretch>
        </p:blipFill>
        <p:spPr>
          <a:xfrm>
            <a:off x="548640" y="274320"/>
            <a:ext cx="237744" cy="237744"/>
          </a:xfrm>
          <a:prstGeom prst="rect">
            <a:avLst/>
          </a:prstGeom>
        </p:spPr>
      </p:pic>
      <p:sp>
        <p:nvSpPr>
          <p:cNvPr id="3" name="Text 0"/>
          <p:cNvSpPr txBox="1"/>
          <p:nvPr/>
        </p:nvSpPr>
        <p:spPr>
          <a:xfrm>
            <a:off x="841248" y="256032"/>
            <a:ext cx="4114800" cy="274320"/>
          </a:xfrm>
          <a:prstGeom prst="rect">
            <a:avLst/>
          </a:prstGeom>
          <a:noFill/>
          <a:ln/>
        </p:spPr>
        <p:txBody>
          <a:bodyPr wrap="square" lIns="0" tIns="0" rIns="0" bIns="0" rtlCol="0" anchor="ctr"/>
          <a:lstStyle/>
          <a:p>
            <a:pPr indent="0" marL="0">
              <a:buNone/>
            </a:pPr>
            <a:r>
              <a:rPr lang="en-US" sz="1100" b="1" dirty="0">
                <a:solidFill>
                  <a:srgbClr val="14161C"/>
                </a:solidFill>
                <a:latin typeface="Arial" pitchFamily="34" charset="0"/>
                <a:ea typeface="Arial" pitchFamily="34" charset="-122"/>
                <a:cs typeface="Arial" pitchFamily="34" charset="-120"/>
              </a:rPr>
              <a:t>ForgeFlow</a:t>
            </a:r>
            <a:pPr indent="0" marL="0">
              <a:buNone/>
            </a:pPr>
            <a:r>
              <a:rPr lang="en-US" sz="1100" dirty="0">
                <a:solidFill>
                  <a:srgbClr val="565C6B"/>
                </a:solidFill>
                <a:latin typeface="Arial" pitchFamily="34" charset="0"/>
                <a:ea typeface="Arial" pitchFamily="34" charset="-122"/>
                <a:cs typeface="Arial" pitchFamily="34" charset="-120"/>
              </a:rPr>
              <a:t>   CA-2 DevOps</a:t>
            </a:r>
            <a:endParaRPr lang="en-US" sz="1100" dirty="0"/>
          </a:p>
        </p:txBody>
      </p:sp>
      <p:sp>
        <p:nvSpPr>
          <p:cNvPr id="4" name="Text 1"/>
          <p:cNvSpPr txBox="1"/>
          <p:nvPr/>
        </p:nvSpPr>
        <p:spPr>
          <a:xfrm>
            <a:off x="9811512" y="256032"/>
            <a:ext cx="1828800" cy="274320"/>
          </a:xfrm>
          <a:prstGeom prst="rect">
            <a:avLst/>
          </a:prstGeom>
          <a:noFill/>
          <a:ln/>
        </p:spPr>
        <p:txBody>
          <a:bodyPr wrap="square" lIns="0" tIns="0" rIns="0" bIns="0" rtlCol="0" anchor="ctr"/>
          <a:lstStyle/>
          <a:p>
            <a:pPr algn="r" indent="0" marL="0">
              <a:buNone/>
            </a:pPr>
            <a:r>
              <a:rPr lang="en-US" sz="1000" dirty="0">
                <a:solidFill>
                  <a:srgbClr val="878D9C"/>
                </a:solidFill>
                <a:latin typeface="Courier New" pitchFamily="34" charset="0"/>
                <a:ea typeface="Courier New" pitchFamily="34" charset="-122"/>
                <a:cs typeface="Courier New" pitchFamily="34" charset="-120"/>
              </a:rPr>
              <a:t>06 / 07</a:t>
            </a:r>
            <a:endParaRPr lang="en-US" sz="1000" dirty="0"/>
          </a:p>
        </p:txBody>
      </p:sp>
      <p:sp>
        <p:nvSpPr>
          <p:cNvPr id="5" name="Text 2"/>
          <p:cNvSpPr txBox="1"/>
          <p:nvPr/>
        </p:nvSpPr>
        <p:spPr>
          <a:xfrm>
            <a:off x="548640" y="713232"/>
            <a:ext cx="7315200" cy="256032"/>
          </a:xfrm>
          <a:prstGeom prst="rect">
            <a:avLst/>
          </a:prstGeom>
          <a:noFill/>
          <a:ln/>
        </p:spPr>
        <p:txBody>
          <a:bodyPr wrap="square" lIns="0" tIns="0" rIns="0" bIns="0" rtlCol="0" anchor="ctr"/>
          <a:lstStyle/>
          <a:p>
            <a:pPr indent="0" marL="0">
              <a:buNone/>
            </a:pPr>
            <a:r>
              <a:rPr lang="en-US" sz="1050" b="1" spc="300" kern="0" dirty="0">
                <a:solidFill>
                  <a:srgbClr val="5457E0"/>
                </a:solidFill>
                <a:latin typeface="Arial" pitchFamily="34" charset="0"/>
                <a:ea typeface="Arial" pitchFamily="34" charset="-122"/>
                <a:cs typeface="Arial" pitchFamily="34" charset="-120"/>
              </a:rPr>
              <a:t>VERIFIED RESULTS</a:t>
            </a:r>
            <a:endParaRPr lang="en-US" sz="1050" dirty="0"/>
          </a:p>
        </p:txBody>
      </p:sp>
      <p:sp>
        <p:nvSpPr>
          <p:cNvPr id="6" name="Text 3"/>
          <p:cNvSpPr txBox="1"/>
          <p:nvPr/>
        </p:nvSpPr>
        <p:spPr>
          <a:xfrm>
            <a:off x="548640" y="969264"/>
            <a:ext cx="11064240" cy="603504"/>
          </a:xfrm>
          <a:prstGeom prst="rect">
            <a:avLst/>
          </a:prstGeom>
          <a:noFill/>
          <a:ln/>
        </p:spPr>
        <p:txBody>
          <a:bodyPr wrap="square" lIns="0" tIns="0" rIns="0" bIns="0" rtlCol="0" anchor="ctr"/>
          <a:lstStyle/>
          <a:p>
            <a:pPr indent="0" marL="0">
              <a:buNone/>
            </a:pPr>
            <a:r>
              <a:rPr lang="en-US" sz="3000" b="1" dirty="0">
                <a:solidFill>
                  <a:srgbClr val="14161C"/>
                </a:solidFill>
                <a:latin typeface="Arial" pitchFamily="34" charset="0"/>
                <a:ea typeface="Arial" pitchFamily="34" charset="-122"/>
                <a:cs typeface="Arial" pitchFamily="34" charset="-120"/>
              </a:rPr>
              <a:t>Executed,</a:t>
            </a:r>
            <a:pPr indent="0" marL="0">
              <a:buNone/>
            </a:pPr>
            <a:r>
              <a:rPr lang="en-US" sz="3000" b="1" dirty="0">
                <a:solidFill>
                  <a:srgbClr val="565C6B"/>
                </a:solidFill>
                <a:latin typeface="Arial" pitchFamily="34" charset="0"/>
                <a:ea typeface="Arial" pitchFamily="34" charset="-122"/>
                <a:cs typeface="Arial" pitchFamily="34" charset="-120"/>
              </a:rPr>
              <a:t> not asserted</a:t>
            </a:r>
            <a:endParaRPr lang="en-US" sz="3000" dirty="0"/>
          </a:p>
        </p:txBody>
      </p:sp>
      <p:sp>
        <p:nvSpPr>
          <p:cNvPr id="7" name="Shape 4"/>
          <p:cNvSpPr/>
          <p:nvPr/>
        </p:nvSpPr>
        <p:spPr>
          <a:xfrm>
            <a:off x="548640" y="1783080"/>
            <a:ext cx="4023360" cy="4800600"/>
          </a:xfrm>
          <a:prstGeom prst="roundRect">
            <a:avLst>
              <a:gd name="adj" fmla="val 1818"/>
            </a:avLst>
          </a:prstGeom>
          <a:solidFill>
            <a:srgbClr val="FFFFFF"/>
          </a:solidFill>
          <a:ln w="12700">
            <a:solidFill>
              <a:srgbClr val="E2E4EC"/>
            </a:solidFill>
            <a:prstDash val="solid"/>
          </a:ln>
          <a:effectLst>
            <a:outerShdw sx="100000" sy="100000" kx="0" ky="0" algn="bl" rotWithShape="0" blurRad="101600" dist="25400" dir="5400000">
              <a:srgbClr val="14161C">
                <a:alpha val="8000"/>
              </a:srgbClr>
            </a:outerShdw>
          </a:effectLst>
        </p:spPr>
      </p:sp>
      <p:sp>
        <p:nvSpPr>
          <p:cNvPr id="8" name="Text 5"/>
          <p:cNvSpPr txBox="1"/>
          <p:nvPr/>
        </p:nvSpPr>
        <p:spPr>
          <a:xfrm>
            <a:off x="731520" y="1920240"/>
            <a:ext cx="3657600" cy="960120"/>
          </a:xfrm>
          <a:prstGeom prst="rect">
            <a:avLst/>
          </a:prstGeom>
          <a:noFill/>
          <a:ln/>
        </p:spPr>
        <p:txBody>
          <a:bodyPr wrap="square" lIns="0" tIns="0" rIns="0" bIns="0" rtlCol="0" anchor="ctr"/>
          <a:lstStyle/>
          <a:p>
            <a:pPr indent="0" marL="0">
              <a:buNone/>
            </a:pPr>
            <a:r>
              <a:rPr lang="en-US" sz="6000" b="1" dirty="0">
                <a:solidFill>
                  <a:srgbClr val="5457E0"/>
                </a:solidFill>
                <a:latin typeface="Arial" pitchFamily="34" charset="0"/>
                <a:ea typeface="Arial" pitchFamily="34" charset="-122"/>
                <a:cs typeface="Arial" pitchFamily="34" charset="-120"/>
              </a:rPr>
              <a:t>807 / 0</a:t>
            </a:r>
            <a:endParaRPr lang="en-US" sz="6000" dirty="0"/>
          </a:p>
        </p:txBody>
      </p:sp>
      <p:sp>
        <p:nvSpPr>
          <p:cNvPr id="9" name="Text 6"/>
          <p:cNvSpPr txBox="1"/>
          <p:nvPr/>
        </p:nvSpPr>
        <p:spPr>
          <a:xfrm>
            <a:off x="731520" y="2926080"/>
            <a:ext cx="3657600" cy="914400"/>
          </a:xfrm>
          <a:prstGeom prst="rect">
            <a:avLst/>
          </a:prstGeom>
          <a:noFill/>
          <a:ln/>
        </p:spPr>
        <p:txBody>
          <a:bodyPr wrap="square" lIns="0" tIns="0" rIns="0" bIns="0" rtlCol="0" anchor="t"/>
          <a:lstStyle/>
          <a:p>
            <a:pPr indent="0" marL="0">
              <a:buNone/>
            </a:pPr>
            <a:r>
              <a:rPr lang="en-US" sz="1200" b="1" dirty="0">
                <a:solidFill>
                  <a:srgbClr val="14161C"/>
                </a:solidFill>
                <a:latin typeface="Arial" pitchFamily="34" charset="0"/>
                <a:ea typeface="Arial" pitchFamily="34" charset="-122"/>
                <a:cs typeface="Arial" pitchFamily="34" charset="-120"/>
              </a:rPr>
              <a:t>Requests served / failures</a:t>
            </a:r>
            <a:pPr indent="0" marL="0">
              <a:buNone/>
            </a:pPr>
            <a:r>
              <a:rPr lang="en-US" sz="1200" dirty="0">
                <a:solidFill>
                  <a:srgbClr val="14161C"/>
                </a:solidFill>
                <a:latin typeface="Arial" pitchFamily="34" charset="0"/>
                <a:ea typeface="Arial" pitchFamily="34" charset="-122"/>
                <a:cs typeface="Arial" pitchFamily="34" charset="-120"/>
              </a:rPr>
              <a:t>, measured by an in-cluster probe every 0.2 s across a rolling update, a deliberately broken release and the rollback.</a:t>
            </a:r>
            <a:endParaRPr lang="en-US" sz="1200" dirty="0"/>
          </a:p>
        </p:txBody>
      </p:sp>
      <p:sp>
        <p:nvSpPr>
          <p:cNvPr id="10" name="Text 7"/>
          <p:cNvSpPr txBox="1"/>
          <p:nvPr/>
        </p:nvSpPr>
        <p:spPr>
          <a:xfrm>
            <a:off x="731520" y="3886200"/>
            <a:ext cx="3657600" cy="960120"/>
          </a:xfrm>
          <a:prstGeom prst="rect">
            <a:avLst/>
          </a:prstGeom>
          <a:noFill/>
          <a:ln/>
        </p:spPr>
        <p:txBody>
          <a:bodyPr wrap="square" lIns="0" tIns="0" rIns="0" bIns="0" rtlCol="0" anchor="t"/>
          <a:lstStyle/>
          <a:p>
            <a:pPr indent="0" marL="0">
              <a:buNone/>
            </a:pPr>
            <a:r>
              <a:rPr lang="en-US" sz="1100" dirty="0">
                <a:solidFill>
                  <a:srgbClr val="14161C"/>
                </a:solidFill>
                <a:latin typeface="Courier New" pitchFamily="34" charset="0"/>
                <a:ea typeface="Courier New" pitchFamily="34" charset="-122"/>
                <a:cs typeface="Courier New" pitchFamily="34" charset="-120"/>
              </a:rPr>
              <a:t>maxUnavailable: 0</a:t>
            </a:r>
            <a:pPr indent="0" marL="0">
              <a:buNone/>
            </a:pPr>
            <a:r>
              <a:rPr lang="en-US" sz="1100" dirty="0">
                <a:solidFill>
                  <a:srgbClr val="565C6B"/>
                </a:solidFill>
                <a:latin typeface="Arial" pitchFamily="34" charset="0"/>
                <a:ea typeface="Arial" pitchFamily="34" charset="-122"/>
                <a:cs typeface="Arial" pitchFamily="34" charset="-120"/>
              </a:rPr>
              <a:t> plus a readiness probe meant the broken pod never became Ready, so it was never added to the Service endpoints and never received a single request.</a:t>
            </a:r>
            <a:endParaRPr lang="en-US" sz="1100" dirty="0"/>
          </a:p>
        </p:txBody>
      </p:sp>
      <p:sp>
        <p:nvSpPr>
          <p:cNvPr id="11" name="Shape 8"/>
          <p:cNvSpPr/>
          <p:nvPr/>
        </p:nvSpPr>
        <p:spPr>
          <a:xfrm>
            <a:off x="731520" y="4956048"/>
            <a:ext cx="3657600" cy="1463040"/>
          </a:xfrm>
          <a:prstGeom prst="roundRect">
            <a:avLst>
              <a:gd name="adj" fmla="val 5000"/>
            </a:avLst>
          </a:prstGeom>
          <a:solidFill>
            <a:srgbClr val="F3F4F8"/>
          </a:solidFill>
          <a:ln w="12700">
            <a:solidFill>
              <a:srgbClr val="E2E4EC"/>
            </a:solidFill>
            <a:prstDash val="solid"/>
          </a:ln>
        </p:spPr>
      </p:sp>
      <p:sp>
        <p:nvSpPr>
          <p:cNvPr id="12" name="Text 9"/>
          <p:cNvSpPr txBox="1"/>
          <p:nvPr/>
        </p:nvSpPr>
        <p:spPr>
          <a:xfrm>
            <a:off x="868680" y="5029200"/>
            <a:ext cx="3383280" cy="274320"/>
          </a:xfrm>
          <a:prstGeom prst="rect">
            <a:avLst/>
          </a:prstGeom>
          <a:noFill/>
          <a:ln/>
        </p:spPr>
        <p:txBody>
          <a:bodyPr wrap="square" lIns="0" tIns="0" rIns="0" bIns="0" rtlCol="0" anchor="ctr"/>
          <a:lstStyle/>
          <a:p>
            <a:pPr indent="0" marL="0">
              <a:buNone/>
            </a:pPr>
            <a:r>
              <a:rPr lang="en-US" sz="1150" b="1" dirty="0">
                <a:solidFill>
                  <a:srgbClr val="A96208"/>
                </a:solidFill>
                <a:latin typeface="Arial" pitchFamily="34" charset="0"/>
                <a:ea typeface="Arial" pitchFamily="34" charset="-122"/>
                <a:cs typeface="Arial" pitchFamily="34" charset="-120"/>
              </a:rPr>
              <a:t>Known limitation, stated up front</a:t>
            </a:r>
            <a:endParaRPr lang="en-US" sz="1150" dirty="0"/>
          </a:p>
        </p:txBody>
      </p:sp>
      <p:sp>
        <p:nvSpPr>
          <p:cNvPr id="13" name="Text 10"/>
          <p:cNvSpPr txBox="1"/>
          <p:nvPr/>
        </p:nvSpPr>
        <p:spPr>
          <a:xfrm>
            <a:off x="868680" y="5321808"/>
            <a:ext cx="3383280" cy="1005840"/>
          </a:xfrm>
          <a:prstGeom prst="rect">
            <a:avLst/>
          </a:prstGeom>
          <a:noFill/>
          <a:ln/>
        </p:spPr>
        <p:txBody>
          <a:bodyPr wrap="square" lIns="0" tIns="0" rIns="0" bIns="0" rtlCol="0" anchor="t"/>
          <a:lstStyle/>
          <a:p>
            <a:pPr indent="0" marL="0">
              <a:buNone/>
            </a:pPr>
            <a:r>
              <a:rPr lang="en-US" sz="1050" dirty="0">
                <a:solidFill>
                  <a:srgbClr val="565C6B"/>
                </a:solidFill>
                <a:latin typeface="Arial" pitchFamily="34" charset="0"/>
                <a:ea typeface="Arial" pitchFamily="34" charset="-122"/>
                <a:cs typeface="Arial" pitchFamily="34" charset="-120"/>
              </a:rPr>
              <a:t>Sandbox-backed stages (build, preview, test, deploy) are inert in the k3s demo; production runs them on Compose. Mongo is a single instance in both runtimes.</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800600" y="1783080"/>
          <a:ext cx="6839712" cy="914400"/>
        </p:xfrm>
        <a:graphic>
          <a:graphicData uri="http://schemas.openxmlformats.org/drawingml/2006/table">
            <a:tbl>
              <a:tblPr/>
              <a:tblGrid>
                <a:gridCol w="3200400"/>
                <a:gridCol w="2011680"/>
                <a:gridCol w="1627632"/>
              </a:tblGrid>
              <a:tr h="347472">
                <a:tc>
                  <a:txBody>
                    <a:bodyPr/>
                    <a:lstStyle/>
                    <a:p>
                      <a:pPr indent="0" marL="0">
                        <a:buNone/>
                      </a:pPr>
                      <a:r>
                        <a:rPr lang="en-US" sz="950" b="1" spc="100" kern="0" dirty="0">
                          <a:solidFill>
                            <a:srgbClr val="878D9C"/>
                          </a:solidFill>
                          <a:latin typeface="Arial" pitchFamily="34" charset="0"/>
                          <a:ea typeface="Arial" pitchFamily="34" charset="-122"/>
                          <a:cs typeface="Arial" pitchFamily="34" charset="-120"/>
                        </a:rPr>
                        <a:t>CHECK</a:t>
                      </a:r>
                      <a:endParaRPr lang="en-US" sz="950" dirty="0">
                        <a:latin typeface="Arial" charset="0"/>
                        <a:ea typeface="Arial" charset="0"/>
                        <a:cs typeface="Arial"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3F4F8"/>
                    </a:solidFill>
                  </a:tcPr>
                </a:tc>
                <a:tc>
                  <a:txBody>
                    <a:bodyPr/>
                    <a:lstStyle/>
                    <a:p>
                      <a:pPr indent="0" marL="0">
                        <a:buNone/>
                      </a:pPr>
                      <a:r>
                        <a:rPr lang="en-US" sz="950" b="1" spc="100" kern="0" dirty="0">
                          <a:solidFill>
                            <a:srgbClr val="878D9C"/>
                          </a:solidFill>
                          <a:latin typeface="Arial" pitchFamily="34" charset="0"/>
                          <a:ea typeface="Arial" pitchFamily="34" charset="-122"/>
                          <a:cs typeface="Arial" pitchFamily="34" charset="-120"/>
                        </a:rPr>
                        <a:t>TOOL</a:t>
                      </a:r>
                      <a:endParaRPr lang="en-US" sz="950" dirty="0">
                        <a:latin typeface="Arial" charset="0"/>
                        <a:ea typeface="Arial" charset="0"/>
                        <a:cs typeface="Arial"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3F4F8"/>
                    </a:solidFill>
                  </a:tcPr>
                </a:tc>
                <a:tc>
                  <a:txBody>
                    <a:bodyPr/>
                    <a:lstStyle/>
                    <a:p>
                      <a:pPr indent="0" marL="0">
                        <a:buNone/>
                      </a:pPr>
                      <a:r>
                        <a:rPr lang="en-US" sz="950" b="1" spc="100" kern="0" dirty="0">
                          <a:solidFill>
                            <a:srgbClr val="878D9C"/>
                          </a:solidFill>
                          <a:latin typeface="Arial" pitchFamily="34" charset="0"/>
                          <a:ea typeface="Arial" pitchFamily="34" charset="-122"/>
                          <a:cs typeface="Arial" pitchFamily="34" charset="-120"/>
                        </a:rPr>
                        <a:t>RESULT</a:t>
                      </a:r>
                      <a:endParaRPr lang="en-US" sz="950" dirty="0">
                        <a:latin typeface="Arial" charset="0"/>
                        <a:ea typeface="Arial" charset="0"/>
                        <a:cs typeface="Arial"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3F4F8"/>
                    </a:solidFill>
                  </a:tcPr>
                </a:tc>
              </a:tr>
              <a:tr h="347472">
                <a:tc>
                  <a:txBody>
                    <a:bodyPr/>
                    <a:lstStyle/>
                    <a:p>
                      <a:pPr indent="0" marL="0">
                        <a:buNone/>
                      </a:pPr>
                      <a:r>
                        <a:rPr lang="en-US" sz="1100" dirty="0">
                          <a:solidFill>
                            <a:srgbClr val="14161C"/>
                          </a:solidFill>
                          <a:latin typeface="Arial" pitchFamily="34" charset="0"/>
                          <a:ea typeface="Arial" pitchFamily="34" charset="-122"/>
                          <a:cs typeface="Arial" pitchFamily="34" charset="-120"/>
                        </a:rPr>
                        <a:t>Workflow syntax + embedded shell</a:t>
                      </a:r>
                      <a:endParaRPr lang="en-US" sz="1100" dirty="0">
                        <a:latin typeface="Arial" charset="0"/>
                        <a:ea typeface="Arial" charset="0"/>
                        <a:cs typeface="Arial"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c>
                  <a:txBody>
                    <a:bodyPr/>
                    <a:lstStyle/>
                    <a:p>
                      <a:pPr indent="0" marL="0">
                        <a:buNone/>
                      </a:pPr>
                      <a:r>
                        <a:rPr lang="en-US" sz="1050" dirty="0">
                          <a:solidFill>
                            <a:srgbClr val="565C6B"/>
                          </a:solidFill>
                          <a:latin typeface="Courier New" pitchFamily="34" charset="0"/>
                          <a:ea typeface="Courier New" pitchFamily="34" charset="-122"/>
                          <a:cs typeface="Courier New" pitchFamily="34" charset="-120"/>
                        </a:rPr>
                        <a:t>actionlint</a:t>
                      </a:r>
                      <a:endParaRPr lang="en-US" sz="1050" dirty="0">
                        <a:latin typeface="Courier New" charset="0"/>
                        <a:ea typeface="Courier New" charset="0"/>
                        <a:cs typeface="Courier New"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c>
                  <a:txBody>
                    <a:bodyPr/>
                    <a:lstStyle/>
                    <a:p>
                      <a:pPr indent="0" marL="0">
                        <a:buNone/>
                      </a:pPr>
                      <a:r>
                        <a:rPr lang="en-US" sz="1100" b="1" dirty="0">
                          <a:solidFill>
                            <a:srgbClr val="15803D"/>
                          </a:solidFill>
                          <a:latin typeface="Arial" pitchFamily="34" charset="0"/>
                          <a:ea typeface="Arial" pitchFamily="34" charset="-122"/>
                          <a:cs typeface="Arial" pitchFamily="34" charset="-120"/>
                        </a:rPr>
                        <a:t>0 findings</a:t>
                      </a:r>
                      <a:endParaRPr lang="en-US" sz="1100" dirty="0">
                        <a:latin typeface="Arial" charset="0"/>
                        <a:ea typeface="Arial" charset="0"/>
                        <a:cs typeface="Arial"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4161C"/>
                          </a:solidFill>
                          <a:latin typeface="Arial" pitchFamily="34" charset="0"/>
                          <a:ea typeface="Arial" pitchFamily="34" charset="-122"/>
                          <a:cs typeface="Arial" pitchFamily="34" charset="-120"/>
                        </a:rPr>
                        <a:t>Kubernetes manifests</a:t>
                      </a:r>
                      <a:endParaRPr lang="en-US" sz="1100" dirty="0">
                        <a:latin typeface="Arial" charset="0"/>
                        <a:ea typeface="Arial" charset="0"/>
                        <a:cs typeface="Arial"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c>
                  <a:txBody>
                    <a:bodyPr/>
                    <a:lstStyle/>
                    <a:p>
                      <a:pPr indent="0" marL="0">
                        <a:buNone/>
                      </a:pPr>
                      <a:r>
                        <a:rPr lang="en-US" sz="1050" dirty="0">
                          <a:solidFill>
                            <a:srgbClr val="565C6B"/>
                          </a:solidFill>
                          <a:latin typeface="Courier New" pitchFamily="34" charset="0"/>
                          <a:ea typeface="Courier New" pitchFamily="34" charset="-122"/>
                          <a:cs typeface="Courier New" pitchFamily="34" charset="-120"/>
                        </a:rPr>
                        <a:t>kubeconform -strict</a:t>
                      </a:r>
                      <a:endParaRPr lang="en-US" sz="1050" dirty="0">
                        <a:latin typeface="Courier New" charset="0"/>
                        <a:ea typeface="Courier New" charset="0"/>
                        <a:cs typeface="Courier New"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c>
                  <a:txBody>
                    <a:bodyPr/>
                    <a:lstStyle/>
                    <a:p>
                      <a:pPr indent="0" marL="0">
                        <a:buNone/>
                      </a:pPr>
                      <a:r>
                        <a:rPr lang="en-US" sz="1100" b="1" dirty="0">
                          <a:solidFill>
                            <a:srgbClr val="15803D"/>
                          </a:solidFill>
                          <a:latin typeface="Arial" pitchFamily="34" charset="0"/>
                          <a:ea typeface="Arial" pitchFamily="34" charset="-122"/>
                          <a:cs typeface="Arial" pitchFamily="34" charset="-120"/>
                        </a:rPr>
                        <a:t>9 / 9 valid</a:t>
                      </a:r>
                      <a:endParaRPr lang="en-US" sz="1100" dirty="0">
                        <a:latin typeface="Arial" charset="0"/>
                        <a:ea typeface="Arial" charset="0"/>
                        <a:cs typeface="Arial"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4161C"/>
                          </a:solidFill>
                          <a:latin typeface="Arial" pitchFamily="34" charset="0"/>
                          <a:ea typeface="Arial" pitchFamily="34" charset="-122"/>
                          <a:cs typeface="Arial" pitchFamily="34" charset="-120"/>
                        </a:rPr>
                        <a:t>Ansible, production profile</a:t>
                      </a:r>
                      <a:endParaRPr lang="en-US" sz="1100" dirty="0">
                        <a:latin typeface="Arial" charset="0"/>
                        <a:ea typeface="Arial" charset="0"/>
                        <a:cs typeface="Arial"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c>
                  <a:txBody>
                    <a:bodyPr/>
                    <a:lstStyle/>
                    <a:p>
                      <a:pPr indent="0" marL="0">
                        <a:buNone/>
                      </a:pPr>
                      <a:r>
                        <a:rPr lang="en-US" sz="1050" dirty="0">
                          <a:solidFill>
                            <a:srgbClr val="565C6B"/>
                          </a:solidFill>
                          <a:latin typeface="Courier New" pitchFamily="34" charset="0"/>
                          <a:ea typeface="Courier New" pitchFamily="34" charset="-122"/>
                          <a:cs typeface="Courier New" pitchFamily="34" charset="-120"/>
                        </a:rPr>
                        <a:t>ansible-lint</a:t>
                      </a:r>
                      <a:endParaRPr lang="en-US" sz="1050" dirty="0">
                        <a:latin typeface="Courier New" charset="0"/>
                        <a:ea typeface="Courier New" charset="0"/>
                        <a:cs typeface="Courier New"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c>
                  <a:txBody>
                    <a:bodyPr/>
                    <a:lstStyle/>
                    <a:p>
                      <a:pPr indent="0" marL="0">
                        <a:buNone/>
                      </a:pPr>
                      <a:r>
                        <a:rPr lang="en-US" sz="1100" b="1" dirty="0">
                          <a:solidFill>
                            <a:srgbClr val="15803D"/>
                          </a:solidFill>
                          <a:latin typeface="Arial" pitchFamily="34" charset="0"/>
                          <a:ea typeface="Arial" pitchFamily="34" charset="-122"/>
                          <a:cs typeface="Arial" pitchFamily="34" charset="-120"/>
                        </a:rPr>
                        <a:t>0 / 0</a:t>
                      </a:r>
                      <a:endParaRPr lang="en-US" sz="1100" dirty="0">
                        <a:latin typeface="Arial" charset="0"/>
                        <a:ea typeface="Arial" charset="0"/>
                        <a:cs typeface="Arial"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4161C"/>
                          </a:solidFill>
                          <a:latin typeface="Arial" pitchFamily="34" charset="0"/>
                          <a:ea typeface="Arial" pitchFamily="34" charset="-122"/>
                          <a:cs typeface="Arial" pitchFamily="34" charset="-120"/>
                        </a:rPr>
                        <a:t>Prometheus config + rules</a:t>
                      </a:r>
                      <a:endParaRPr lang="en-US" sz="1100" dirty="0">
                        <a:latin typeface="Arial" charset="0"/>
                        <a:ea typeface="Arial" charset="0"/>
                        <a:cs typeface="Arial"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c>
                  <a:txBody>
                    <a:bodyPr/>
                    <a:lstStyle/>
                    <a:p>
                      <a:pPr indent="0" marL="0">
                        <a:buNone/>
                      </a:pPr>
                      <a:r>
                        <a:rPr lang="en-US" sz="1050" dirty="0">
                          <a:solidFill>
                            <a:srgbClr val="565C6B"/>
                          </a:solidFill>
                          <a:latin typeface="Courier New" pitchFamily="34" charset="0"/>
                          <a:ea typeface="Courier New" pitchFamily="34" charset="-122"/>
                          <a:cs typeface="Courier New" pitchFamily="34" charset="-120"/>
                        </a:rPr>
                        <a:t>promtool</a:t>
                      </a:r>
                      <a:endParaRPr lang="en-US" sz="1050" dirty="0">
                        <a:latin typeface="Courier New" charset="0"/>
                        <a:ea typeface="Courier New" charset="0"/>
                        <a:cs typeface="Courier New"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c>
                  <a:txBody>
                    <a:bodyPr/>
                    <a:lstStyle/>
                    <a:p>
                      <a:pPr indent="0" marL="0">
                        <a:buNone/>
                      </a:pPr>
                      <a:r>
                        <a:rPr lang="en-US" sz="1100" b="1" dirty="0">
                          <a:solidFill>
                            <a:srgbClr val="15803D"/>
                          </a:solidFill>
                          <a:latin typeface="Arial" pitchFamily="34" charset="0"/>
                          <a:ea typeface="Arial" pitchFamily="34" charset="-122"/>
                          <a:cs typeface="Arial" pitchFamily="34" charset="-120"/>
                        </a:rPr>
                        <a:t>10 rules</a:t>
                      </a:r>
                      <a:endParaRPr lang="en-US" sz="1100" dirty="0">
                        <a:latin typeface="Arial" charset="0"/>
                        <a:ea typeface="Arial" charset="0"/>
                        <a:cs typeface="Arial"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4161C"/>
                          </a:solidFill>
                          <a:latin typeface="Arial" pitchFamily="34" charset="0"/>
                          <a:ea typeface="Arial" pitchFamily="34" charset="-122"/>
                          <a:cs typeface="Arial" pitchFamily="34" charset="-120"/>
                        </a:rPr>
                        <a:t>nginx config, both variants</a:t>
                      </a:r>
                      <a:endParaRPr lang="en-US" sz="1100" dirty="0">
                        <a:latin typeface="Arial" charset="0"/>
                        <a:ea typeface="Arial" charset="0"/>
                        <a:cs typeface="Arial"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c>
                  <a:txBody>
                    <a:bodyPr/>
                    <a:lstStyle/>
                    <a:p>
                      <a:pPr indent="0" marL="0">
                        <a:buNone/>
                      </a:pPr>
                      <a:r>
                        <a:rPr lang="en-US" sz="1050" dirty="0">
                          <a:solidFill>
                            <a:srgbClr val="565C6B"/>
                          </a:solidFill>
                          <a:latin typeface="Courier New" pitchFamily="34" charset="0"/>
                          <a:ea typeface="Courier New" pitchFamily="34" charset="-122"/>
                          <a:cs typeface="Courier New" pitchFamily="34" charset="-120"/>
                        </a:rPr>
                        <a:t>nginx -t</a:t>
                      </a:r>
                      <a:endParaRPr lang="en-US" sz="1050" dirty="0">
                        <a:latin typeface="Courier New" charset="0"/>
                        <a:ea typeface="Courier New" charset="0"/>
                        <a:cs typeface="Courier New"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c>
                  <a:txBody>
                    <a:bodyPr/>
                    <a:lstStyle/>
                    <a:p>
                      <a:pPr indent="0" marL="0">
                        <a:buNone/>
                      </a:pPr>
                      <a:r>
                        <a:rPr lang="en-US" sz="1100" b="1" dirty="0">
                          <a:solidFill>
                            <a:srgbClr val="15803D"/>
                          </a:solidFill>
                          <a:latin typeface="Arial" pitchFamily="34" charset="0"/>
                          <a:ea typeface="Arial" pitchFamily="34" charset="-122"/>
                          <a:cs typeface="Arial" pitchFamily="34" charset="-120"/>
                        </a:rPr>
                        <a:t>valid</a:t>
                      </a:r>
                      <a:endParaRPr lang="en-US" sz="1100" dirty="0">
                        <a:latin typeface="Arial" charset="0"/>
                        <a:ea typeface="Arial" charset="0"/>
                        <a:cs typeface="Arial"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4161C"/>
                          </a:solidFill>
                          <a:latin typeface="Arial" pitchFamily="34" charset="0"/>
                          <a:ea typeface="Arial" pitchFamily="34" charset="-122"/>
                          <a:cs typeface="Arial" pitchFamily="34" charset="-120"/>
                        </a:rPr>
                        <a:t>WebSocket upgrade</a:t>
                      </a:r>
                      <a:endParaRPr lang="en-US" sz="1100" dirty="0">
                        <a:latin typeface="Arial" charset="0"/>
                        <a:ea typeface="Arial" charset="0"/>
                        <a:cs typeface="Arial"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c>
                  <a:txBody>
                    <a:bodyPr/>
                    <a:lstStyle/>
                    <a:p>
                      <a:pPr indent="0" marL="0">
                        <a:buNone/>
                      </a:pPr>
                      <a:r>
                        <a:rPr lang="en-US" sz="1050" dirty="0">
                          <a:solidFill>
                            <a:srgbClr val="565C6B"/>
                          </a:solidFill>
                          <a:latin typeface="Courier New" pitchFamily="34" charset="0"/>
                          <a:ea typeface="Courier New" pitchFamily="34" charset="-122"/>
                          <a:cs typeface="Courier New" pitchFamily="34" charset="-120"/>
                        </a:rPr>
                        <a:t>live handshake</a:t>
                      </a:r>
                      <a:endParaRPr lang="en-US" sz="1050" dirty="0">
                        <a:latin typeface="Courier New" charset="0"/>
                        <a:ea typeface="Courier New" charset="0"/>
                        <a:cs typeface="Courier New"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c>
                  <a:txBody>
                    <a:bodyPr/>
                    <a:lstStyle/>
                    <a:p>
                      <a:pPr indent="0" marL="0">
                        <a:buNone/>
                      </a:pPr>
                      <a:r>
                        <a:rPr lang="en-US" sz="1100" b="1" dirty="0">
                          <a:solidFill>
                            <a:srgbClr val="15803D"/>
                          </a:solidFill>
                          <a:latin typeface="Arial" pitchFamily="34" charset="0"/>
                          <a:ea typeface="Arial" pitchFamily="34" charset="-122"/>
                          <a:cs typeface="Arial" pitchFamily="34" charset="-120"/>
                        </a:rPr>
                        <a:t>101</a:t>
                      </a:r>
                      <a:endParaRPr lang="en-US" sz="1100" dirty="0">
                        <a:latin typeface="Arial" charset="0"/>
                        <a:ea typeface="Arial" charset="0"/>
                        <a:cs typeface="Arial"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4161C"/>
                          </a:solidFill>
                          <a:latin typeface="Arial" pitchFamily="34" charset="0"/>
                          <a:ea typeface="Arial" pitchFamily="34" charset="-122"/>
                          <a:cs typeface="Arial" pitchFamily="34" charset="-120"/>
                        </a:rPr>
                        <a:t>Production image</a:t>
                      </a:r>
                      <a:endParaRPr lang="en-US" sz="1100" dirty="0">
                        <a:latin typeface="Arial" charset="0"/>
                        <a:ea typeface="Arial" charset="0"/>
                        <a:cs typeface="Arial"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c>
                  <a:txBody>
                    <a:bodyPr/>
                    <a:lstStyle/>
                    <a:p>
                      <a:pPr indent="0" marL="0">
                        <a:buNone/>
                      </a:pPr>
                      <a:r>
                        <a:rPr lang="en-US" sz="1050" dirty="0">
                          <a:solidFill>
                            <a:srgbClr val="565C6B"/>
                          </a:solidFill>
                          <a:latin typeface="Courier New" pitchFamily="34" charset="0"/>
                          <a:ea typeface="Courier New" pitchFamily="34" charset="-122"/>
                          <a:cs typeface="Courier New" pitchFamily="34" charset="-120"/>
                        </a:rPr>
                        <a:t>docker run</a:t>
                      </a:r>
                      <a:endParaRPr lang="en-US" sz="1050" dirty="0">
                        <a:latin typeface="Courier New" charset="0"/>
                        <a:ea typeface="Courier New" charset="0"/>
                        <a:cs typeface="Courier New"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c>
                  <a:txBody>
                    <a:bodyPr/>
                    <a:lstStyle/>
                    <a:p>
                      <a:pPr indent="0" marL="0">
                        <a:buNone/>
                      </a:pPr>
                      <a:r>
                        <a:rPr lang="en-US" sz="1100" b="1" dirty="0">
                          <a:solidFill>
                            <a:srgbClr val="15803D"/>
                          </a:solidFill>
                          <a:latin typeface="Arial" pitchFamily="34" charset="0"/>
                          <a:ea typeface="Arial" pitchFamily="34" charset="-122"/>
                          <a:cs typeface="Arial" pitchFamily="34" charset="-120"/>
                        </a:rPr>
                        <a:t>healthy</a:t>
                      </a:r>
                      <a:endParaRPr lang="en-US" sz="1100" dirty="0">
                        <a:latin typeface="Arial" charset="0"/>
                        <a:ea typeface="Arial" charset="0"/>
                        <a:cs typeface="Arial"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4161C"/>
                          </a:solidFill>
                          <a:latin typeface="Arial" pitchFamily="34" charset="0"/>
                          <a:ea typeface="Arial" pitchFamily="34" charset="-122"/>
                          <a:cs typeface="Arial" pitchFamily="34" charset="-120"/>
                        </a:rPr>
                        <a:t>Rolling update</a:t>
                      </a:r>
                      <a:endParaRPr lang="en-US" sz="1100" dirty="0">
                        <a:latin typeface="Arial" charset="0"/>
                        <a:ea typeface="Arial" charset="0"/>
                        <a:cs typeface="Arial"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c>
                  <a:txBody>
                    <a:bodyPr/>
                    <a:lstStyle/>
                    <a:p>
                      <a:pPr indent="0" marL="0">
                        <a:buNone/>
                      </a:pPr>
                      <a:r>
                        <a:rPr lang="en-US" sz="1050" dirty="0">
                          <a:solidFill>
                            <a:srgbClr val="565C6B"/>
                          </a:solidFill>
                          <a:latin typeface="Courier New" pitchFamily="34" charset="0"/>
                          <a:ea typeface="Courier New" pitchFamily="34" charset="-122"/>
                          <a:cs typeface="Courier New" pitchFamily="34" charset="-120"/>
                        </a:rPr>
                        <a:t>real k3s</a:t>
                      </a:r>
                      <a:endParaRPr lang="en-US" sz="1050" dirty="0">
                        <a:latin typeface="Courier New" charset="0"/>
                        <a:ea typeface="Courier New" charset="0"/>
                        <a:cs typeface="Courier New"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c>
                  <a:txBody>
                    <a:bodyPr/>
                    <a:lstStyle/>
                    <a:p>
                      <a:pPr indent="0" marL="0">
                        <a:buNone/>
                      </a:pPr>
                      <a:r>
                        <a:rPr lang="en-US" sz="1100" b="1" dirty="0">
                          <a:solidFill>
                            <a:srgbClr val="15803D"/>
                          </a:solidFill>
                          <a:latin typeface="Arial" pitchFamily="34" charset="0"/>
                          <a:ea typeface="Arial" pitchFamily="34" charset="-122"/>
                          <a:cs typeface="Arial" pitchFamily="34" charset="-120"/>
                        </a:rPr>
                        <a:t>0 dropped</a:t>
                      </a:r>
                      <a:endParaRPr lang="en-US" sz="1100" dirty="0">
                        <a:latin typeface="Arial" charset="0"/>
                        <a:ea typeface="Arial" charset="0"/>
                        <a:cs typeface="Arial"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4161C"/>
                          </a:solidFill>
                          <a:latin typeface="Arial" pitchFamily="34" charset="0"/>
                          <a:ea typeface="Arial" pitchFamily="34" charset="-122"/>
                          <a:cs typeface="Arial" pitchFamily="34" charset="-120"/>
                        </a:rPr>
                        <a:t>Broken release</a:t>
                      </a:r>
                      <a:endParaRPr lang="en-US" sz="1100" dirty="0">
                        <a:latin typeface="Arial" charset="0"/>
                        <a:ea typeface="Arial" charset="0"/>
                        <a:cs typeface="Arial"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c>
                  <a:txBody>
                    <a:bodyPr/>
                    <a:lstStyle/>
                    <a:p>
                      <a:pPr indent="0" marL="0">
                        <a:buNone/>
                      </a:pPr>
                      <a:r>
                        <a:rPr lang="en-US" sz="1050" dirty="0">
                          <a:solidFill>
                            <a:srgbClr val="565C6B"/>
                          </a:solidFill>
                          <a:latin typeface="Courier New" pitchFamily="34" charset="0"/>
                          <a:ea typeface="Courier New" pitchFamily="34" charset="-122"/>
                          <a:cs typeface="Courier New" pitchFamily="34" charset="-120"/>
                        </a:rPr>
                        <a:t>real k3s</a:t>
                      </a:r>
                      <a:endParaRPr lang="en-US" sz="1050" dirty="0">
                        <a:latin typeface="Courier New" charset="0"/>
                        <a:ea typeface="Courier New" charset="0"/>
                        <a:cs typeface="Courier New"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c>
                  <a:txBody>
                    <a:bodyPr/>
                    <a:lstStyle/>
                    <a:p>
                      <a:pPr indent="0" marL="0">
                        <a:buNone/>
                      </a:pPr>
                      <a:r>
                        <a:rPr lang="en-US" sz="1100" b="1" dirty="0">
                          <a:solidFill>
                            <a:srgbClr val="15803D"/>
                          </a:solidFill>
                          <a:latin typeface="Arial" pitchFamily="34" charset="0"/>
                          <a:ea typeface="Arial" pitchFamily="34" charset="-122"/>
                          <a:cs typeface="Arial" pitchFamily="34" charset="-120"/>
                        </a:rPr>
                        <a:t>auto-rolled back</a:t>
                      </a:r>
                      <a:endParaRPr lang="en-US" sz="1100" dirty="0">
                        <a:latin typeface="Arial" charset="0"/>
                        <a:ea typeface="Arial" charset="0"/>
                        <a:cs typeface="Arial"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4161C"/>
                          </a:solidFill>
                          <a:latin typeface="Arial" pitchFamily="34" charset="0"/>
                          <a:ea typeface="Arial" pitchFamily="34" charset="-122"/>
                          <a:cs typeface="Arial" pitchFamily="34" charset="-120"/>
                        </a:rPr>
                        <a:t>Monitoring targets</a:t>
                      </a:r>
                      <a:endParaRPr lang="en-US" sz="1100" dirty="0">
                        <a:latin typeface="Arial" charset="0"/>
                        <a:ea typeface="Arial" charset="0"/>
                        <a:cs typeface="Arial"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c>
                  <a:txBody>
                    <a:bodyPr/>
                    <a:lstStyle/>
                    <a:p>
                      <a:pPr indent="0" marL="0">
                        <a:buNone/>
                      </a:pPr>
                      <a:r>
                        <a:rPr lang="en-US" sz="1050" dirty="0">
                          <a:solidFill>
                            <a:srgbClr val="565C6B"/>
                          </a:solidFill>
                          <a:latin typeface="Courier New" pitchFamily="34" charset="0"/>
                          <a:ea typeface="Courier New" pitchFamily="34" charset="-122"/>
                          <a:cs typeface="Courier New" pitchFamily="34" charset="-120"/>
                        </a:rPr>
                        <a:t>prometheus</a:t>
                      </a:r>
                      <a:endParaRPr lang="en-US" sz="1050" dirty="0">
                        <a:latin typeface="Courier New" charset="0"/>
                        <a:ea typeface="Courier New" charset="0"/>
                        <a:cs typeface="Courier New"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c>
                  <a:txBody>
                    <a:bodyPr/>
                    <a:lstStyle/>
                    <a:p>
                      <a:pPr indent="0" marL="0">
                        <a:buNone/>
                      </a:pPr>
                      <a:r>
                        <a:rPr lang="en-US" sz="1100" b="1" dirty="0">
                          <a:solidFill>
                            <a:srgbClr val="15803D"/>
                          </a:solidFill>
                          <a:latin typeface="Arial" pitchFamily="34" charset="0"/>
                          <a:ea typeface="Arial" pitchFamily="34" charset="-122"/>
                          <a:cs typeface="Arial" pitchFamily="34" charset="-120"/>
                        </a:rPr>
                        <a:t>5 / 5 up</a:t>
                      </a:r>
                      <a:endParaRPr lang="en-US" sz="1100" dirty="0">
                        <a:latin typeface="Arial" charset="0"/>
                        <a:ea typeface="Arial" charset="0"/>
                        <a:cs typeface="Arial"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4161C"/>
                          </a:solidFill>
                          <a:latin typeface="Arial" pitchFamily="34" charset="0"/>
                          <a:ea typeface="Arial" pitchFamily="34" charset="-122"/>
                          <a:cs typeface="Arial" pitchFamily="34" charset="-120"/>
                        </a:rPr>
                        <a:t>Grafana dashboard</a:t>
                      </a:r>
                      <a:endParaRPr lang="en-US" sz="1100" dirty="0">
                        <a:latin typeface="Arial" charset="0"/>
                        <a:ea typeface="Arial" charset="0"/>
                        <a:cs typeface="Arial"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c>
                  <a:txBody>
                    <a:bodyPr/>
                    <a:lstStyle/>
                    <a:p>
                      <a:pPr indent="0" marL="0">
                        <a:buNone/>
                      </a:pPr>
                      <a:r>
                        <a:rPr lang="en-US" sz="1050" dirty="0">
                          <a:solidFill>
                            <a:srgbClr val="565C6B"/>
                          </a:solidFill>
                          <a:latin typeface="Courier New" pitchFamily="34" charset="0"/>
                          <a:ea typeface="Courier New" pitchFamily="34" charset="-122"/>
                          <a:cs typeface="Courier New" pitchFamily="34" charset="-120"/>
                        </a:rPr>
                        <a:t>provisioned</a:t>
                      </a:r>
                      <a:endParaRPr lang="en-US" sz="1050" dirty="0">
                        <a:latin typeface="Courier New" charset="0"/>
                        <a:ea typeface="Courier New" charset="0"/>
                        <a:cs typeface="Courier New"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c>
                  <a:txBody>
                    <a:bodyPr/>
                    <a:lstStyle/>
                    <a:p>
                      <a:pPr indent="0" marL="0">
                        <a:buNone/>
                      </a:pPr>
                      <a:r>
                        <a:rPr lang="en-US" sz="1100" b="1" dirty="0">
                          <a:solidFill>
                            <a:srgbClr val="15803D"/>
                          </a:solidFill>
                          <a:latin typeface="Arial" pitchFamily="34" charset="0"/>
                          <a:ea typeface="Arial" pitchFamily="34" charset="-122"/>
                          <a:cs typeface="Arial" pitchFamily="34" charset="-120"/>
                        </a:rPr>
                        <a:t>16 panels</a:t>
                      </a:r>
                      <a:endParaRPr lang="en-US" sz="1100" dirty="0">
                        <a:latin typeface="Arial" charset="0"/>
                        <a:ea typeface="Arial" charset="0"/>
                        <a:cs typeface="Arial"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4161C"/>
                          </a:solidFill>
                          <a:latin typeface="Arial" pitchFamily="34" charset="0"/>
                          <a:ea typeface="Arial" pitchFamily="34" charset="-122"/>
                          <a:cs typeface="Arial" pitchFamily="34" charset="-120"/>
                        </a:rPr>
                        <a:t>Backend test suite</a:t>
                      </a:r>
                      <a:endParaRPr lang="en-US" sz="1100" dirty="0">
                        <a:latin typeface="Arial" charset="0"/>
                        <a:ea typeface="Arial" charset="0"/>
                        <a:cs typeface="Arial"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c>
                  <a:txBody>
                    <a:bodyPr/>
                    <a:lstStyle/>
                    <a:p>
                      <a:pPr indent="0" marL="0">
                        <a:buNone/>
                      </a:pPr>
                      <a:r>
                        <a:rPr lang="en-US" sz="1050" dirty="0">
                          <a:solidFill>
                            <a:srgbClr val="565C6B"/>
                          </a:solidFill>
                          <a:latin typeface="Courier New" pitchFamily="34" charset="0"/>
                          <a:ea typeface="Courier New" pitchFamily="34" charset="-122"/>
                          <a:cs typeface="Courier New" pitchFamily="34" charset="-120"/>
                        </a:rPr>
                        <a:t>pytest</a:t>
                      </a:r>
                      <a:endParaRPr lang="en-US" sz="1050" dirty="0">
                        <a:latin typeface="Courier New" charset="0"/>
                        <a:ea typeface="Courier New" charset="0"/>
                        <a:cs typeface="Courier New"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c>
                  <a:txBody>
                    <a:bodyPr/>
                    <a:lstStyle/>
                    <a:p>
                      <a:pPr indent="0" marL="0">
                        <a:buNone/>
                      </a:pPr>
                      <a:r>
                        <a:rPr lang="en-US" sz="1100" b="1" dirty="0">
                          <a:solidFill>
                            <a:srgbClr val="15803D"/>
                          </a:solidFill>
                          <a:latin typeface="Arial" pitchFamily="34" charset="0"/>
                          <a:ea typeface="Arial" pitchFamily="34" charset="-122"/>
                          <a:cs typeface="Arial" pitchFamily="34" charset="-120"/>
                        </a:rPr>
                        <a:t>1,648 passed</a:t>
                      </a:r>
                      <a:endParaRPr lang="en-US" sz="1100" dirty="0">
                        <a:latin typeface="Arial" charset="0"/>
                        <a:ea typeface="Arial" charset="0"/>
                        <a:cs typeface="Arial" charset="0"/>
                      </a:endParaRPr>
                    </a:p>
                  </a:txBody>
                  <a:tcPr marL="109728" marR="91440" marT="0" marB="0" anchor="ctr">
                    <a:lnL w="9525" cap="flat" cmpd="sng" algn="ctr">
                      <a:solidFill>
                        <a:srgbClr val="E2E4EC"/>
                      </a:solidFill>
                      <a:prstDash val="solid"/>
                      <a:round/>
                      <a:headEnd type="none" w="med" len="med"/>
                      <a:tailEnd type="none" w="med" len="med"/>
                    </a:lnL>
                    <a:lnR w="9525" cap="flat" cmpd="sng" algn="ctr">
                      <a:solidFill>
                        <a:srgbClr val="E2E4EC"/>
                      </a:solidFill>
                      <a:prstDash val="solid"/>
                      <a:round/>
                      <a:headEnd type="none" w="med" len="med"/>
                      <a:tailEnd type="none" w="med" len="med"/>
                    </a:lnR>
                    <a:lnT w="9525" cap="flat" cmpd="sng" algn="ctr">
                      <a:solidFill>
                        <a:srgbClr val="E2E4EC"/>
                      </a:solidFill>
                      <a:prstDash val="solid"/>
                      <a:round/>
                      <a:headEnd type="none" w="med" len="med"/>
                      <a:tailEnd type="none" w="med" len="med"/>
                    </a:lnT>
                    <a:lnB w="9525" cap="flat" cmpd="sng" algn="ctr">
                      <a:solidFill>
                        <a:srgbClr val="E2E4EC"/>
                      </a:solidFill>
                      <a:prstDash val="solid"/>
                      <a:round/>
                      <a:headEnd type="none" w="med" len="med"/>
                      <a:tailEnd type="none" w="med" len="med"/>
                    </a:lnB>
                    <a:solidFill>
                      <a:srgbClr val="FFFFFF"/>
                    </a:solidFill>
                  </a:tcPr>
                </a:tc>
              </a:tr>
            </a:tbl>
          </a:graphicData>
        </a:graphic>
      </p:graphicFrame>
      <p:sp>
        <p:nvSpPr>
          <p:cNvPr id="15" name="Text 11"/>
          <p:cNvSpPr txBox="1"/>
          <p:nvPr/>
        </p:nvSpPr>
        <p:spPr>
          <a:xfrm>
            <a:off x="4800600" y="6355080"/>
            <a:ext cx="6839712" cy="228600"/>
          </a:xfrm>
          <a:prstGeom prst="rect">
            <a:avLst/>
          </a:prstGeom>
          <a:noFill/>
          <a:ln/>
        </p:spPr>
        <p:txBody>
          <a:bodyPr wrap="square" lIns="0" tIns="0" rIns="0" bIns="0" rtlCol="0" anchor="ctr"/>
          <a:lstStyle/>
          <a:p>
            <a:pPr indent="0" marL="0">
              <a:buNone/>
            </a:pPr>
            <a:r>
              <a:rPr lang="en-US" sz="1000" dirty="0">
                <a:solidFill>
                  <a:srgbClr val="878D9C"/>
                </a:solidFill>
                <a:latin typeface="Arial" pitchFamily="34" charset="0"/>
                <a:ea typeface="Arial" pitchFamily="34" charset="-122"/>
                <a:cs typeface="Arial" pitchFamily="34" charset="-120"/>
              </a:rPr>
              <a:t>Raw output committed under </a:t>
            </a:r>
            <a:pPr indent="0" marL="0">
              <a:buNone/>
            </a:pPr>
            <a:r>
              <a:rPr lang="en-US" sz="1000" dirty="0">
                <a:solidFill>
                  <a:srgbClr val="14161C"/>
                </a:solidFill>
                <a:latin typeface="Courier New" pitchFamily="34" charset="0"/>
                <a:ea typeface="Courier New" pitchFamily="34" charset="-122"/>
                <a:cs typeface="Courier New" pitchFamily="34" charset="-120"/>
              </a:rPr>
              <a:t>docs/devops/evidence/</a:t>
            </a:r>
            <a:pPr indent="0" marL="0">
              <a:buNone/>
            </a:pPr>
            <a:r>
              <a:rPr lang="en-US" sz="1000" dirty="0">
                <a:solidFill>
                  <a:srgbClr val="878D9C"/>
                </a:solidFill>
                <a:latin typeface="Arial" pitchFamily="34" charset="0"/>
                <a:ea typeface="Arial" pitchFamily="34" charset="-122"/>
                <a:cs typeface="Arial" pitchFamily="34" charset="-120"/>
              </a:rPr>
              <a: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D"/>
        </a:solidFill>
      </p:bgPr>
    </p:bg>
    <p:spTree>
      <p:nvGrpSpPr>
        <p:cNvPr id="1" name=""/>
        <p:cNvGrpSpPr/>
        <p:nvPr/>
      </p:nvGrpSpPr>
      <p:grpSpPr>
        <a:xfrm>
          <a:off x="0" y="0"/>
          <a:ext cx="0" cy="0"/>
          <a:chOff x="0" y="0"/>
          <a:chExt cx="0" cy="0"/>
        </a:xfrm>
      </p:grpSpPr>
      <p:pic>
        <p:nvPicPr>
          <p:cNvPr id="2" name="Image 0" descr="/tmp/claude-0/-home-user-ForgeFlow/c54c4f28-0214-5817-a71a-61a1132558a0/scratchpad/img/mark.png">    </p:cNvPr>
          <p:cNvPicPr>
            <a:picLocks noChangeAspect="1"/>
          </p:cNvPicPr>
          <p:nvPr/>
        </p:nvPicPr>
        <p:blipFill>
          <a:blip r:embed="rId1"/>
          <a:stretch>
            <a:fillRect/>
          </a:stretch>
        </p:blipFill>
        <p:spPr>
          <a:xfrm>
            <a:off x="548640" y="274320"/>
            <a:ext cx="237744" cy="237744"/>
          </a:xfrm>
          <a:prstGeom prst="rect">
            <a:avLst/>
          </a:prstGeom>
        </p:spPr>
      </p:pic>
      <p:sp>
        <p:nvSpPr>
          <p:cNvPr id="3" name="Text 0"/>
          <p:cNvSpPr txBox="1"/>
          <p:nvPr/>
        </p:nvSpPr>
        <p:spPr>
          <a:xfrm>
            <a:off x="841248" y="256032"/>
            <a:ext cx="4114800" cy="274320"/>
          </a:xfrm>
          <a:prstGeom prst="rect">
            <a:avLst/>
          </a:prstGeom>
          <a:noFill/>
          <a:ln/>
        </p:spPr>
        <p:txBody>
          <a:bodyPr wrap="square" lIns="0" tIns="0" rIns="0" bIns="0" rtlCol="0" anchor="ctr"/>
          <a:lstStyle/>
          <a:p>
            <a:pPr indent="0" marL="0">
              <a:buNone/>
            </a:pPr>
            <a:r>
              <a:rPr lang="en-US" sz="1100" b="1" dirty="0">
                <a:solidFill>
                  <a:srgbClr val="14161C"/>
                </a:solidFill>
                <a:latin typeface="Arial" pitchFamily="34" charset="0"/>
                <a:ea typeface="Arial" pitchFamily="34" charset="-122"/>
                <a:cs typeface="Arial" pitchFamily="34" charset="-120"/>
              </a:rPr>
              <a:t>ForgeFlow</a:t>
            </a:r>
            <a:pPr indent="0" marL="0">
              <a:buNone/>
            </a:pPr>
            <a:r>
              <a:rPr lang="en-US" sz="1100" dirty="0">
                <a:solidFill>
                  <a:srgbClr val="565C6B"/>
                </a:solidFill>
                <a:latin typeface="Arial" pitchFamily="34" charset="0"/>
                <a:ea typeface="Arial" pitchFamily="34" charset="-122"/>
                <a:cs typeface="Arial" pitchFamily="34" charset="-120"/>
              </a:rPr>
              <a:t>   CA-2 DevOps</a:t>
            </a:r>
            <a:endParaRPr lang="en-US" sz="1100" dirty="0"/>
          </a:p>
        </p:txBody>
      </p:sp>
      <p:sp>
        <p:nvSpPr>
          <p:cNvPr id="4" name="Text 1"/>
          <p:cNvSpPr txBox="1"/>
          <p:nvPr/>
        </p:nvSpPr>
        <p:spPr>
          <a:xfrm>
            <a:off x="9811512" y="256032"/>
            <a:ext cx="1828800" cy="274320"/>
          </a:xfrm>
          <a:prstGeom prst="rect">
            <a:avLst/>
          </a:prstGeom>
          <a:noFill/>
          <a:ln/>
        </p:spPr>
        <p:txBody>
          <a:bodyPr wrap="square" lIns="0" tIns="0" rIns="0" bIns="0" rtlCol="0" anchor="ctr"/>
          <a:lstStyle/>
          <a:p>
            <a:pPr algn="r" indent="0" marL="0">
              <a:buNone/>
            </a:pPr>
            <a:r>
              <a:rPr lang="en-US" sz="1000" dirty="0">
                <a:solidFill>
                  <a:srgbClr val="878D9C"/>
                </a:solidFill>
                <a:latin typeface="Courier New" pitchFamily="34" charset="0"/>
                <a:ea typeface="Courier New" pitchFamily="34" charset="-122"/>
                <a:cs typeface="Courier New" pitchFamily="34" charset="-120"/>
              </a:rPr>
              <a:t>07 / 07</a:t>
            </a:r>
            <a:endParaRPr lang="en-US" sz="1000" dirty="0"/>
          </a:p>
        </p:txBody>
      </p:sp>
      <p:sp>
        <p:nvSpPr>
          <p:cNvPr id="5" name="Text 2"/>
          <p:cNvSpPr txBox="1"/>
          <p:nvPr/>
        </p:nvSpPr>
        <p:spPr>
          <a:xfrm>
            <a:off x="548640" y="713232"/>
            <a:ext cx="7315200" cy="256032"/>
          </a:xfrm>
          <a:prstGeom prst="rect">
            <a:avLst/>
          </a:prstGeom>
          <a:noFill/>
          <a:ln/>
        </p:spPr>
        <p:txBody>
          <a:bodyPr wrap="square" lIns="0" tIns="0" rIns="0" bIns="0" rtlCol="0" anchor="ctr"/>
          <a:lstStyle/>
          <a:p>
            <a:pPr indent="0" marL="0">
              <a:buNone/>
            </a:pPr>
            <a:r>
              <a:rPr lang="en-US" sz="1050" b="1" spc="300" kern="0" dirty="0">
                <a:solidFill>
                  <a:srgbClr val="5457E0"/>
                </a:solidFill>
                <a:latin typeface="Arial" pitchFamily="34" charset="0"/>
                <a:ea typeface="Arial" pitchFamily="34" charset="-122"/>
                <a:cs typeface="Arial" pitchFamily="34" charset="-120"/>
              </a:rPr>
              <a:t>BONUS · EXTERNAL CHALLENGE</a:t>
            </a:r>
            <a:endParaRPr lang="en-US" sz="1050" dirty="0"/>
          </a:p>
        </p:txBody>
      </p:sp>
      <p:sp>
        <p:nvSpPr>
          <p:cNvPr id="6" name="Text 3"/>
          <p:cNvSpPr txBox="1"/>
          <p:nvPr/>
        </p:nvSpPr>
        <p:spPr>
          <a:xfrm>
            <a:off x="548640" y="969264"/>
            <a:ext cx="11064240" cy="603504"/>
          </a:xfrm>
          <a:prstGeom prst="rect">
            <a:avLst/>
          </a:prstGeom>
          <a:noFill/>
          <a:ln/>
        </p:spPr>
        <p:txBody>
          <a:bodyPr wrap="square" lIns="0" tIns="0" rIns="0" bIns="0" rtlCol="0" anchor="ctr"/>
          <a:lstStyle/>
          <a:p>
            <a:pPr indent="0" marL="0">
              <a:buNone/>
            </a:pPr>
            <a:r>
              <a:rPr lang="en-US" sz="3000" b="1" dirty="0">
                <a:solidFill>
                  <a:srgbClr val="14161C"/>
                </a:solidFill>
                <a:latin typeface="Arial" pitchFamily="34" charset="0"/>
                <a:ea typeface="Arial" pitchFamily="34" charset="-122"/>
                <a:cs typeface="Arial" pitchFamily="34" charset="-120"/>
              </a:rPr>
              <a:t>IBM Bob 2.0 Hackathon,</a:t>
            </a:r>
            <a:pPr indent="0" marL="0">
              <a:buNone/>
            </a:pPr>
            <a:r>
              <a:rPr lang="en-US" sz="3000" b="1" dirty="0">
                <a:solidFill>
                  <a:srgbClr val="565C6B"/>
                </a:solidFill>
                <a:latin typeface="Arial" pitchFamily="34" charset="0"/>
                <a:ea typeface="Arial" pitchFamily="34" charset="-122"/>
                <a:cs typeface="Arial" pitchFamily="34" charset="-120"/>
              </a:rPr>
              <a:t> ForgeFlow submitted</a:t>
            </a:r>
            <a:endParaRPr lang="en-US" sz="3000" dirty="0"/>
          </a:p>
        </p:txBody>
      </p:sp>
      <p:sp>
        <p:nvSpPr>
          <p:cNvPr id="7" name="Shape 4"/>
          <p:cNvSpPr/>
          <p:nvPr/>
        </p:nvSpPr>
        <p:spPr>
          <a:xfrm>
            <a:off x="548640" y="1783080"/>
            <a:ext cx="5120640" cy="4800600"/>
          </a:xfrm>
          <a:prstGeom prst="roundRect">
            <a:avLst>
              <a:gd name="adj" fmla="val 1524"/>
            </a:avLst>
          </a:prstGeom>
          <a:solidFill>
            <a:srgbClr val="FFFFFF"/>
          </a:solidFill>
          <a:ln w="12700">
            <a:solidFill>
              <a:srgbClr val="E2E4EC"/>
            </a:solidFill>
            <a:prstDash val="solid"/>
          </a:ln>
          <a:effectLst>
            <a:outerShdw sx="100000" sy="100000" kx="0" ky="0" algn="bl" rotWithShape="0" blurRad="101600" dist="25400" dir="5400000">
              <a:srgbClr val="14161C">
                <a:alpha val="8000"/>
              </a:srgbClr>
            </a:outerShdw>
          </a:effectLst>
        </p:spPr>
      </p:sp>
      <p:sp>
        <p:nvSpPr>
          <p:cNvPr id="8" name="Text 5"/>
          <p:cNvSpPr txBox="1"/>
          <p:nvPr/>
        </p:nvSpPr>
        <p:spPr>
          <a:xfrm>
            <a:off x="749808" y="1901952"/>
            <a:ext cx="4663440" cy="274320"/>
          </a:xfrm>
          <a:prstGeom prst="rect">
            <a:avLst/>
          </a:prstGeom>
          <a:noFill/>
          <a:ln/>
        </p:spPr>
        <p:txBody>
          <a:bodyPr wrap="square" lIns="0" tIns="0" rIns="0" bIns="0" rtlCol="0" anchor="ctr"/>
          <a:lstStyle/>
          <a:p>
            <a:pPr indent="0" marL="0">
              <a:buNone/>
            </a:pPr>
            <a:r>
              <a:rPr lang="en-US" sz="1050" b="1" spc="200" kern="0" dirty="0">
                <a:solidFill>
                  <a:srgbClr val="5457E0"/>
                </a:solidFill>
                <a:latin typeface="Arial" pitchFamily="34" charset="0"/>
                <a:ea typeface="Arial" pitchFamily="34" charset="-122"/>
                <a:cs typeface="Arial" pitchFamily="34" charset="-120"/>
              </a:rPr>
              <a:t>EVENT</a:t>
            </a:r>
            <a:endParaRPr lang="en-US" sz="1050" dirty="0"/>
          </a:p>
        </p:txBody>
      </p:sp>
      <p:sp>
        <p:nvSpPr>
          <p:cNvPr id="9" name="Text 6"/>
          <p:cNvSpPr txBox="1"/>
          <p:nvPr/>
        </p:nvSpPr>
        <p:spPr>
          <a:xfrm>
            <a:off x="749808" y="2286000"/>
            <a:ext cx="1280160" cy="274320"/>
          </a:xfrm>
          <a:prstGeom prst="rect">
            <a:avLst/>
          </a:prstGeom>
          <a:noFill/>
          <a:ln/>
        </p:spPr>
        <p:txBody>
          <a:bodyPr wrap="square" lIns="0" tIns="0" rIns="0" bIns="0" rtlCol="0" anchor="ctr"/>
          <a:lstStyle/>
          <a:p>
            <a:pPr indent="0" marL="0">
              <a:buNone/>
            </a:pPr>
            <a:r>
              <a:rPr lang="en-US" sz="900" b="1" spc="100" kern="0" dirty="0">
                <a:solidFill>
                  <a:srgbClr val="878D9C"/>
                </a:solidFill>
                <a:latin typeface="Arial" pitchFamily="34" charset="0"/>
                <a:ea typeface="Arial" pitchFamily="34" charset="-122"/>
                <a:cs typeface="Arial" pitchFamily="34" charset="-120"/>
              </a:rPr>
              <a:t>HACKATHON</a:t>
            </a:r>
            <a:endParaRPr lang="en-US" sz="900" dirty="0"/>
          </a:p>
        </p:txBody>
      </p:sp>
      <p:sp>
        <p:nvSpPr>
          <p:cNvPr id="10" name="Text 7"/>
          <p:cNvSpPr txBox="1"/>
          <p:nvPr/>
        </p:nvSpPr>
        <p:spPr>
          <a:xfrm>
            <a:off x="2011680" y="2249424"/>
            <a:ext cx="3474720" cy="566928"/>
          </a:xfrm>
          <a:prstGeom prst="rect">
            <a:avLst/>
          </a:prstGeom>
          <a:noFill/>
          <a:ln/>
        </p:spPr>
        <p:txBody>
          <a:bodyPr wrap="square" lIns="0" tIns="0" rIns="0" bIns="0" rtlCol="0" anchor="t"/>
          <a:lstStyle/>
          <a:p>
            <a:pPr indent="0" marL="0">
              <a:buNone/>
            </a:pPr>
            <a:r>
              <a:rPr lang="en-US" sz="1200" dirty="0">
                <a:solidFill>
                  <a:srgbClr val="14161C"/>
                </a:solidFill>
                <a:latin typeface="Arial" pitchFamily="34" charset="0"/>
                <a:ea typeface="Arial" pitchFamily="34" charset="-122"/>
                <a:cs typeface="Arial" pitchFamily="34" charset="-120"/>
              </a:rPr>
              <a:t>IBM Bob 2.0 Hackathon — “Your code meets your new AI dev partner.”</a:t>
            </a:r>
            <a:endParaRPr lang="en-US" sz="1200" dirty="0"/>
          </a:p>
        </p:txBody>
      </p:sp>
      <p:sp>
        <p:nvSpPr>
          <p:cNvPr id="11" name="Text 8"/>
          <p:cNvSpPr txBox="1"/>
          <p:nvPr/>
        </p:nvSpPr>
        <p:spPr>
          <a:xfrm>
            <a:off x="749808" y="2944368"/>
            <a:ext cx="1280160" cy="274320"/>
          </a:xfrm>
          <a:prstGeom prst="rect">
            <a:avLst/>
          </a:prstGeom>
          <a:noFill/>
          <a:ln/>
        </p:spPr>
        <p:txBody>
          <a:bodyPr wrap="square" lIns="0" tIns="0" rIns="0" bIns="0" rtlCol="0" anchor="ctr"/>
          <a:lstStyle/>
          <a:p>
            <a:pPr indent="0" marL="0">
              <a:buNone/>
            </a:pPr>
            <a:r>
              <a:rPr lang="en-US" sz="900" b="1" spc="100" kern="0" dirty="0">
                <a:solidFill>
                  <a:srgbClr val="878D9C"/>
                </a:solidFill>
                <a:latin typeface="Arial" pitchFamily="34" charset="0"/>
                <a:ea typeface="Arial" pitchFamily="34" charset="-122"/>
                <a:cs typeface="Arial" pitchFamily="34" charset="-120"/>
              </a:rPr>
              <a:t>PLATFORM</a:t>
            </a:r>
            <a:endParaRPr lang="en-US" sz="900" dirty="0"/>
          </a:p>
        </p:txBody>
      </p:sp>
      <p:sp>
        <p:nvSpPr>
          <p:cNvPr id="12" name="Text 9"/>
          <p:cNvSpPr txBox="1"/>
          <p:nvPr/>
        </p:nvSpPr>
        <p:spPr>
          <a:xfrm>
            <a:off x="2011680" y="2907792"/>
            <a:ext cx="3474720" cy="566928"/>
          </a:xfrm>
          <a:prstGeom prst="rect">
            <a:avLst/>
          </a:prstGeom>
          <a:noFill/>
          <a:ln/>
        </p:spPr>
        <p:txBody>
          <a:bodyPr wrap="square" lIns="0" tIns="0" rIns="0" bIns="0" rtlCol="0" anchor="t"/>
          <a:lstStyle/>
          <a:p>
            <a:pPr indent="0" marL="0">
              <a:buNone/>
            </a:pPr>
            <a:r>
              <a:rPr lang="en-US" sz="1200" dirty="0">
                <a:solidFill>
                  <a:srgbClr val="14161C"/>
                </a:solidFill>
                <a:latin typeface="Arial" pitchFamily="34" charset="0"/>
                <a:ea typeface="Arial" pitchFamily="34" charset="-122"/>
                <a:cs typeface="Arial" pitchFamily="34" charset="-120"/>
              </a:rPr>
              <a:t>lablab.ai, with IBM</a:t>
            </a:r>
            <a:endParaRPr lang="en-US" sz="1200" dirty="0"/>
          </a:p>
        </p:txBody>
      </p:sp>
      <p:sp>
        <p:nvSpPr>
          <p:cNvPr id="13" name="Text 10"/>
          <p:cNvSpPr txBox="1"/>
          <p:nvPr/>
        </p:nvSpPr>
        <p:spPr>
          <a:xfrm>
            <a:off x="749808" y="3602736"/>
            <a:ext cx="1280160" cy="274320"/>
          </a:xfrm>
          <a:prstGeom prst="rect">
            <a:avLst/>
          </a:prstGeom>
          <a:noFill/>
          <a:ln/>
        </p:spPr>
        <p:txBody>
          <a:bodyPr wrap="square" lIns="0" tIns="0" rIns="0" bIns="0" rtlCol="0" anchor="ctr"/>
          <a:lstStyle/>
          <a:p>
            <a:pPr indent="0" marL="0">
              <a:buNone/>
            </a:pPr>
            <a:r>
              <a:rPr lang="en-US" sz="900" b="1" spc="100" kern="0" dirty="0">
                <a:solidFill>
                  <a:srgbClr val="878D9C"/>
                </a:solidFill>
                <a:latin typeface="Arial" pitchFamily="34" charset="0"/>
                <a:ea typeface="Arial" pitchFamily="34" charset="-122"/>
                <a:cs typeface="Arial" pitchFamily="34" charset="-120"/>
              </a:rPr>
              <a:t>DATES</a:t>
            </a:r>
            <a:endParaRPr lang="en-US" sz="900" dirty="0"/>
          </a:p>
        </p:txBody>
      </p:sp>
      <p:sp>
        <p:nvSpPr>
          <p:cNvPr id="14" name="Text 11"/>
          <p:cNvSpPr txBox="1"/>
          <p:nvPr/>
        </p:nvSpPr>
        <p:spPr>
          <a:xfrm>
            <a:off x="2011680" y="3566160"/>
            <a:ext cx="3474720" cy="566928"/>
          </a:xfrm>
          <a:prstGeom prst="rect">
            <a:avLst/>
          </a:prstGeom>
          <a:noFill/>
          <a:ln/>
        </p:spPr>
        <p:txBody>
          <a:bodyPr wrap="square" lIns="0" tIns="0" rIns="0" bIns="0" rtlCol="0" anchor="t"/>
          <a:lstStyle/>
          <a:p>
            <a:pPr indent="0" marL="0">
              <a:buNone/>
            </a:pPr>
            <a:r>
              <a:rPr lang="en-US" sz="1200" dirty="0">
                <a:solidFill>
                  <a:srgbClr val="14161C"/>
                </a:solidFill>
                <a:latin typeface="Arial" pitchFamily="34" charset="0"/>
                <a:ea typeface="Arial" pitchFamily="34" charset="-122"/>
                <a:cs typeface="Arial" pitchFamily="34" charset="-120"/>
              </a:rPr>
              <a:t>25–27 September 2026 · kick-off 8:30 PM IST</a:t>
            </a:r>
            <a:endParaRPr lang="en-US" sz="1200" dirty="0"/>
          </a:p>
        </p:txBody>
      </p:sp>
      <p:sp>
        <p:nvSpPr>
          <p:cNvPr id="15" name="Text 12"/>
          <p:cNvSpPr txBox="1"/>
          <p:nvPr/>
        </p:nvSpPr>
        <p:spPr>
          <a:xfrm>
            <a:off x="749808" y="4261104"/>
            <a:ext cx="1280160" cy="274320"/>
          </a:xfrm>
          <a:prstGeom prst="rect">
            <a:avLst/>
          </a:prstGeom>
          <a:noFill/>
          <a:ln/>
        </p:spPr>
        <p:txBody>
          <a:bodyPr wrap="square" lIns="0" tIns="0" rIns="0" bIns="0" rtlCol="0" anchor="ctr"/>
          <a:lstStyle/>
          <a:p>
            <a:pPr indent="0" marL="0">
              <a:buNone/>
            </a:pPr>
            <a:r>
              <a:rPr lang="en-US" sz="900" b="1" spc="100" kern="0" dirty="0">
                <a:solidFill>
                  <a:srgbClr val="878D9C"/>
                </a:solidFill>
                <a:latin typeface="Arial" pitchFamily="34" charset="0"/>
                <a:ea typeface="Arial" pitchFamily="34" charset="-122"/>
                <a:cs typeface="Arial" pitchFamily="34" charset="-120"/>
              </a:rPr>
              <a:t>FORMAT</a:t>
            </a:r>
            <a:endParaRPr lang="en-US" sz="900" dirty="0"/>
          </a:p>
        </p:txBody>
      </p:sp>
      <p:sp>
        <p:nvSpPr>
          <p:cNvPr id="16" name="Text 13"/>
          <p:cNvSpPr txBox="1"/>
          <p:nvPr/>
        </p:nvSpPr>
        <p:spPr>
          <a:xfrm>
            <a:off x="2011680" y="4224528"/>
            <a:ext cx="3474720" cy="566928"/>
          </a:xfrm>
          <a:prstGeom prst="rect">
            <a:avLst/>
          </a:prstGeom>
          <a:noFill/>
          <a:ln/>
        </p:spPr>
        <p:txBody>
          <a:bodyPr wrap="square" lIns="0" tIns="0" rIns="0" bIns="0" rtlCol="0" anchor="t"/>
          <a:lstStyle/>
          <a:p>
            <a:pPr indent="0" marL="0">
              <a:buNone/>
            </a:pPr>
            <a:r>
              <a:rPr lang="en-US" sz="1200" dirty="0">
                <a:solidFill>
                  <a:srgbClr val="14161C"/>
                </a:solidFill>
                <a:latin typeface="Arial" pitchFamily="34" charset="0"/>
                <a:ea typeface="Arial" pitchFamily="34" charset="-122"/>
                <a:cs typeface="Arial" pitchFamily="34" charset="-120"/>
              </a:rPr>
              <a:t>Online · 48-hour build</a:t>
            </a:r>
            <a:endParaRPr lang="en-US" sz="1200" dirty="0"/>
          </a:p>
        </p:txBody>
      </p:sp>
      <p:sp>
        <p:nvSpPr>
          <p:cNvPr id="17" name="Text 14"/>
          <p:cNvSpPr txBox="1"/>
          <p:nvPr/>
        </p:nvSpPr>
        <p:spPr>
          <a:xfrm>
            <a:off x="749808" y="4919472"/>
            <a:ext cx="1280160" cy="274320"/>
          </a:xfrm>
          <a:prstGeom prst="rect">
            <a:avLst/>
          </a:prstGeom>
          <a:noFill/>
          <a:ln/>
        </p:spPr>
        <p:txBody>
          <a:bodyPr wrap="square" lIns="0" tIns="0" rIns="0" bIns="0" rtlCol="0" anchor="ctr"/>
          <a:lstStyle/>
          <a:p>
            <a:pPr indent="0" marL="0">
              <a:buNone/>
            </a:pPr>
            <a:r>
              <a:rPr lang="en-US" sz="900" b="1" spc="100" kern="0" dirty="0">
                <a:solidFill>
                  <a:srgbClr val="878D9C"/>
                </a:solidFill>
                <a:latin typeface="Arial" pitchFamily="34" charset="0"/>
                <a:ea typeface="Arial" pitchFamily="34" charset="-122"/>
                <a:cs typeface="Arial" pitchFamily="34" charset="-120"/>
              </a:rPr>
              <a:t>PRIZE POOL</a:t>
            </a:r>
            <a:endParaRPr lang="en-US" sz="900" dirty="0"/>
          </a:p>
        </p:txBody>
      </p:sp>
      <p:sp>
        <p:nvSpPr>
          <p:cNvPr id="18" name="Text 15"/>
          <p:cNvSpPr txBox="1"/>
          <p:nvPr/>
        </p:nvSpPr>
        <p:spPr>
          <a:xfrm>
            <a:off x="2011680" y="4882896"/>
            <a:ext cx="3474720" cy="566928"/>
          </a:xfrm>
          <a:prstGeom prst="rect">
            <a:avLst/>
          </a:prstGeom>
          <a:noFill/>
          <a:ln/>
        </p:spPr>
        <p:txBody>
          <a:bodyPr wrap="square" lIns="0" tIns="0" rIns="0" bIns="0" rtlCol="0" anchor="t"/>
          <a:lstStyle/>
          <a:p>
            <a:pPr indent="0" marL="0">
              <a:buNone/>
            </a:pPr>
            <a:r>
              <a:rPr lang="en-US" sz="1200" dirty="0">
                <a:solidFill>
                  <a:srgbClr val="14161C"/>
                </a:solidFill>
                <a:latin typeface="Arial" pitchFamily="34" charset="0"/>
                <a:ea typeface="Arial" pitchFamily="34" charset="-122"/>
                <a:cs typeface="Arial" pitchFamily="34" charset="-120"/>
              </a:rPr>
              <a:t>US $12,000</a:t>
            </a:r>
            <a:endParaRPr lang="en-US" sz="1200" dirty="0"/>
          </a:p>
        </p:txBody>
      </p:sp>
      <p:sp>
        <p:nvSpPr>
          <p:cNvPr id="19" name="Text 16"/>
          <p:cNvSpPr txBox="1"/>
          <p:nvPr/>
        </p:nvSpPr>
        <p:spPr>
          <a:xfrm>
            <a:off x="749808" y="5577840"/>
            <a:ext cx="1280160" cy="274320"/>
          </a:xfrm>
          <a:prstGeom prst="rect">
            <a:avLst/>
          </a:prstGeom>
          <a:noFill/>
          <a:ln/>
        </p:spPr>
        <p:txBody>
          <a:bodyPr wrap="square" lIns="0" tIns="0" rIns="0" bIns="0" rtlCol="0" anchor="ctr"/>
          <a:lstStyle/>
          <a:p>
            <a:pPr indent="0" marL="0">
              <a:buNone/>
            </a:pPr>
            <a:r>
              <a:rPr lang="en-US" sz="900" b="1" spc="100" kern="0" dirty="0">
                <a:solidFill>
                  <a:srgbClr val="878D9C"/>
                </a:solidFill>
                <a:latin typeface="Arial" pitchFamily="34" charset="0"/>
                <a:ea typeface="Arial" pitchFamily="34" charset="-122"/>
                <a:cs typeface="Arial" pitchFamily="34" charset="-120"/>
              </a:rPr>
              <a:t>LINK</a:t>
            </a:r>
            <a:endParaRPr lang="en-US" sz="900" dirty="0"/>
          </a:p>
        </p:txBody>
      </p:sp>
      <p:sp>
        <p:nvSpPr>
          <p:cNvPr id="20" name="Text 17"/>
          <p:cNvSpPr txBox="1"/>
          <p:nvPr/>
        </p:nvSpPr>
        <p:spPr>
          <a:xfrm>
            <a:off x="2011680" y="5541264"/>
            <a:ext cx="3474720" cy="566928"/>
          </a:xfrm>
          <a:prstGeom prst="rect">
            <a:avLst/>
          </a:prstGeom>
          <a:noFill/>
          <a:ln/>
        </p:spPr>
        <p:txBody>
          <a:bodyPr wrap="square" lIns="0" tIns="0" rIns="0" bIns="0" rtlCol="0" anchor="t"/>
          <a:lstStyle/>
          <a:p>
            <a:pPr indent="0" marL="0">
              <a:buNone/>
            </a:pPr>
            <a:r>
              <a:rPr lang="en-US" sz="1050" dirty="0">
                <a:solidFill>
                  <a:srgbClr val="14161C"/>
                </a:solidFill>
                <a:latin typeface="Courier New" pitchFamily="34" charset="0"/>
                <a:ea typeface="Courier New" pitchFamily="34" charset="-122"/>
                <a:cs typeface="Courier New" pitchFamily="34" charset="-120"/>
              </a:rPr>
              <a:t>lablab.ai/ai-hackathons/ibm-bob-2-hackathon</a:t>
            </a:r>
            <a:endParaRPr lang="en-US" sz="1050" dirty="0"/>
          </a:p>
        </p:txBody>
      </p:sp>
      <p:sp>
        <p:nvSpPr>
          <p:cNvPr id="21" name="Text 18"/>
          <p:cNvSpPr txBox="1"/>
          <p:nvPr/>
        </p:nvSpPr>
        <p:spPr>
          <a:xfrm>
            <a:off x="5897880" y="1901952"/>
            <a:ext cx="5669280" cy="274320"/>
          </a:xfrm>
          <a:prstGeom prst="rect">
            <a:avLst/>
          </a:prstGeom>
          <a:noFill/>
          <a:ln/>
        </p:spPr>
        <p:txBody>
          <a:bodyPr wrap="square" lIns="0" tIns="0" rIns="0" bIns="0" rtlCol="0" anchor="ctr"/>
          <a:lstStyle/>
          <a:p>
            <a:pPr indent="0" marL="0">
              <a:buNone/>
            </a:pPr>
            <a:r>
              <a:rPr lang="en-US" sz="1050" b="1" spc="200" kern="0" dirty="0">
                <a:solidFill>
                  <a:srgbClr val="5457E0"/>
                </a:solidFill>
                <a:latin typeface="Arial" pitchFamily="34" charset="0"/>
                <a:ea typeface="Arial" pitchFamily="34" charset="-122"/>
                <a:cs typeface="Arial" pitchFamily="34" charset="-120"/>
              </a:rPr>
              <a:t>TEAM</a:t>
            </a:r>
            <a:endParaRPr lang="en-US" sz="1050" dirty="0"/>
          </a:p>
        </p:txBody>
      </p:sp>
      <p:sp>
        <p:nvSpPr>
          <p:cNvPr id="22" name="Shape 19"/>
          <p:cNvSpPr/>
          <p:nvPr/>
        </p:nvSpPr>
        <p:spPr>
          <a:xfrm>
            <a:off x="5852160" y="2240280"/>
            <a:ext cx="1837944" cy="1234440"/>
          </a:xfrm>
          <a:prstGeom prst="roundRect">
            <a:avLst>
              <a:gd name="adj" fmla="val 5926"/>
            </a:avLst>
          </a:prstGeom>
          <a:solidFill>
            <a:srgbClr val="FFFFFF"/>
          </a:solidFill>
          <a:ln w="12700">
            <a:solidFill>
              <a:srgbClr val="E2E4EC"/>
            </a:solidFill>
            <a:prstDash val="solid"/>
          </a:ln>
          <a:effectLst>
            <a:outerShdw sx="100000" sy="100000" kx="0" ky="0" algn="bl" rotWithShape="0" blurRad="101600" dist="25400" dir="5400000">
              <a:srgbClr val="14161C">
                <a:alpha val="8000"/>
              </a:srgbClr>
            </a:outerShdw>
          </a:effectLst>
        </p:spPr>
      </p:sp>
      <p:sp>
        <p:nvSpPr>
          <p:cNvPr id="23" name="Shape 20"/>
          <p:cNvSpPr/>
          <p:nvPr/>
        </p:nvSpPr>
        <p:spPr>
          <a:xfrm>
            <a:off x="6515100" y="2359152"/>
            <a:ext cx="512064" cy="512064"/>
          </a:xfrm>
          <a:prstGeom prst="ellipse">
            <a:avLst/>
          </a:prstGeom>
          <a:solidFill>
            <a:srgbClr val="EEEEFC"/>
          </a:solidFill>
          <a:ln w="12700">
            <a:solidFill>
              <a:srgbClr val="C3C5F4"/>
            </a:solidFill>
            <a:prstDash val="solid"/>
          </a:ln>
        </p:spPr>
      </p:sp>
      <p:sp>
        <p:nvSpPr>
          <p:cNvPr id="24" name="Text 21"/>
          <p:cNvSpPr txBox="1"/>
          <p:nvPr/>
        </p:nvSpPr>
        <p:spPr>
          <a:xfrm>
            <a:off x="6515100" y="2359152"/>
            <a:ext cx="512064" cy="512064"/>
          </a:xfrm>
          <a:prstGeom prst="rect">
            <a:avLst/>
          </a:prstGeom>
          <a:noFill/>
          <a:ln/>
        </p:spPr>
        <p:txBody>
          <a:bodyPr wrap="square" lIns="0" tIns="0" rIns="0" bIns="0" rtlCol="0" anchor="ctr"/>
          <a:lstStyle/>
          <a:p>
            <a:pPr algn="ctr" indent="0" marL="0">
              <a:buNone/>
            </a:pPr>
            <a:r>
              <a:rPr lang="en-US" sz="1300" b="1" dirty="0">
                <a:solidFill>
                  <a:srgbClr val="5457E0"/>
                </a:solidFill>
                <a:latin typeface="Arial" pitchFamily="34" charset="0"/>
                <a:ea typeface="Arial" pitchFamily="34" charset="-122"/>
                <a:cs typeface="Arial" pitchFamily="34" charset="-120"/>
              </a:rPr>
              <a:t>FS</a:t>
            </a:r>
            <a:endParaRPr lang="en-US" sz="1300" dirty="0"/>
          </a:p>
        </p:txBody>
      </p:sp>
      <p:sp>
        <p:nvSpPr>
          <p:cNvPr id="25" name="Text 22"/>
          <p:cNvSpPr txBox="1"/>
          <p:nvPr/>
        </p:nvSpPr>
        <p:spPr>
          <a:xfrm>
            <a:off x="5925312" y="2907792"/>
            <a:ext cx="1691640" cy="274320"/>
          </a:xfrm>
          <a:prstGeom prst="rect">
            <a:avLst/>
          </a:prstGeom>
          <a:noFill/>
          <a:ln/>
        </p:spPr>
        <p:txBody>
          <a:bodyPr wrap="square" lIns="0" tIns="0" rIns="0" bIns="0" rtlCol="0" anchor="ctr"/>
          <a:lstStyle/>
          <a:p>
            <a:pPr algn="ctr" indent="0" marL="0">
              <a:buNone/>
            </a:pPr>
            <a:r>
              <a:rPr lang="en-US" sz="1150" b="1" dirty="0">
                <a:solidFill>
                  <a:srgbClr val="14161C"/>
                </a:solidFill>
                <a:latin typeface="Arial" pitchFamily="34" charset="0"/>
                <a:ea typeface="Arial" pitchFamily="34" charset="-122"/>
                <a:cs typeface="Arial" pitchFamily="34" charset="-120"/>
              </a:rPr>
              <a:t>Faheemuddin Sayyed</a:t>
            </a:r>
            <a:endParaRPr lang="en-US" sz="1150" dirty="0"/>
          </a:p>
        </p:txBody>
      </p:sp>
      <p:sp>
        <p:nvSpPr>
          <p:cNvPr id="26" name="Text 23"/>
          <p:cNvSpPr txBox="1"/>
          <p:nvPr/>
        </p:nvSpPr>
        <p:spPr>
          <a:xfrm>
            <a:off x="5925312" y="3163824"/>
            <a:ext cx="1691640" cy="237744"/>
          </a:xfrm>
          <a:prstGeom prst="rect">
            <a:avLst/>
          </a:prstGeom>
          <a:noFill/>
          <a:ln/>
        </p:spPr>
        <p:txBody>
          <a:bodyPr wrap="square" lIns="0" tIns="0" rIns="0" bIns="0" rtlCol="0" anchor="ctr"/>
          <a:lstStyle/>
          <a:p>
            <a:pPr algn="ctr" indent="0" marL="0">
              <a:buNone/>
            </a:pPr>
            <a:r>
              <a:rPr lang="en-US" sz="950" dirty="0">
                <a:solidFill>
                  <a:srgbClr val="878D9C"/>
                </a:solidFill>
                <a:latin typeface="Courier New" pitchFamily="34" charset="0"/>
                <a:ea typeface="Courier New" pitchFamily="34" charset="-122"/>
                <a:cs typeface="Courier New" pitchFamily="34" charset="-120"/>
              </a:rPr>
              <a:t>faheem219</a:t>
            </a:r>
            <a:endParaRPr lang="en-US" sz="950" dirty="0"/>
          </a:p>
        </p:txBody>
      </p:sp>
      <p:sp>
        <p:nvSpPr>
          <p:cNvPr id="27" name="Shape 24"/>
          <p:cNvSpPr/>
          <p:nvPr/>
        </p:nvSpPr>
        <p:spPr>
          <a:xfrm>
            <a:off x="7827264" y="2240280"/>
            <a:ext cx="1837944" cy="1234440"/>
          </a:xfrm>
          <a:prstGeom prst="roundRect">
            <a:avLst>
              <a:gd name="adj" fmla="val 5926"/>
            </a:avLst>
          </a:prstGeom>
          <a:solidFill>
            <a:srgbClr val="FFFFFF"/>
          </a:solidFill>
          <a:ln w="12700">
            <a:solidFill>
              <a:srgbClr val="E2E4EC"/>
            </a:solidFill>
            <a:prstDash val="solid"/>
          </a:ln>
          <a:effectLst>
            <a:outerShdw sx="100000" sy="100000" kx="0" ky="0" algn="bl" rotWithShape="0" blurRad="101600" dist="25400" dir="5400000">
              <a:srgbClr val="14161C">
                <a:alpha val="8000"/>
              </a:srgbClr>
            </a:outerShdw>
          </a:effectLst>
        </p:spPr>
      </p:sp>
      <p:sp>
        <p:nvSpPr>
          <p:cNvPr id="28" name="Shape 25"/>
          <p:cNvSpPr/>
          <p:nvPr/>
        </p:nvSpPr>
        <p:spPr>
          <a:xfrm>
            <a:off x="8490204" y="2359152"/>
            <a:ext cx="512064" cy="512064"/>
          </a:xfrm>
          <a:prstGeom prst="ellipse">
            <a:avLst/>
          </a:prstGeom>
          <a:solidFill>
            <a:srgbClr val="EEEEFC"/>
          </a:solidFill>
          <a:ln w="12700">
            <a:solidFill>
              <a:srgbClr val="C3C5F4"/>
            </a:solidFill>
            <a:prstDash val="solid"/>
          </a:ln>
        </p:spPr>
      </p:sp>
      <p:sp>
        <p:nvSpPr>
          <p:cNvPr id="29" name="Text 26"/>
          <p:cNvSpPr txBox="1"/>
          <p:nvPr/>
        </p:nvSpPr>
        <p:spPr>
          <a:xfrm>
            <a:off x="8490204" y="2359152"/>
            <a:ext cx="512064" cy="512064"/>
          </a:xfrm>
          <a:prstGeom prst="rect">
            <a:avLst/>
          </a:prstGeom>
          <a:noFill/>
          <a:ln/>
        </p:spPr>
        <p:txBody>
          <a:bodyPr wrap="square" lIns="0" tIns="0" rIns="0" bIns="0" rtlCol="0" anchor="ctr"/>
          <a:lstStyle/>
          <a:p>
            <a:pPr algn="ctr" indent="0" marL="0">
              <a:buNone/>
            </a:pPr>
            <a:r>
              <a:rPr lang="en-US" sz="1300" b="1" dirty="0">
                <a:solidFill>
                  <a:srgbClr val="5457E0"/>
                </a:solidFill>
                <a:latin typeface="Arial" pitchFamily="34" charset="0"/>
                <a:ea typeface="Arial" pitchFamily="34" charset="-122"/>
                <a:cs typeface="Arial" pitchFamily="34" charset="-120"/>
              </a:rPr>
              <a:t>SA</a:t>
            </a:r>
            <a:endParaRPr lang="en-US" sz="1300" dirty="0"/>
          </a:p>
        </p:txBody>
      </p:sp>
      <p:sp>
        <p:nvSpPr>
          <p:cNvPr id="30" name="Text 27"/>
          <p:cNvSpPr txBox="1"/>
          <p:nvPr/>
        </p:nvSpPr>
        <p:spPr>
          <a:xfrm>
            <a:off x="7900416" y="2907792"/>
            <a:ext cx="1691640" cy="274320"/>
          </a:xfrm>
          <a:prstGeom prst="rect">
            <a:avLst/>
          </a:prstGeom>
          <a:noFill/>
          <a:ln/>
        </p:spPr>
        <p:txBody>
          <a:bodyPr wrap="square" lIns="0" tIns="0" rIns="0" bIns="0" rtlCol="0" anchor="ctr"/>
          <a:lstStyle/>
          <a:p>
            <a:pPr algn="ctr" indent="0" marL="0">
              <a:buNone/>
            </a:pPr>
            <a:r>
              <a:rPr lang="en-US" sz="1150" b="1" dirty="0">
                <a:solidFill>
                  <a:srgbClr val="14161C"/>
                </a:solidFill>
                <a:latin typeface="Arial" pitchFamily="34" charset="0"/>
                <a:ea typeface="Arial" pitchFamily="34" charset="-122"/>
                <a:cs typeface="Arial" pitchFamily="34" charset="-120"/>
              </a:rPr>
              <a:t>Sanidhya Awasthi</a:t>
            </a:r>
            <a:endParaRPr lang="en-US" sz="1150" dirty="0"/>
          </a:p>
        </p:txBody>
      </p:sp>
      <p:sp>
        <p:nvSpPr>
          <p:cNvPr id="31" name="Text 28"/>
          <p:cNvSpPr txBox="1"/>
          <p:nvPr/>
        </p:nvSpPr>
        <p:spPr>
          <a:xfrm>
            <a:off x="7900416" y="3163824"/>
            <a:ext cx="1691640" cy="237744"/>
          </a:xfrm>
          <a:prstGeom prst="rect">
            <a:avLst/>
          </a:prstGeom>
          <a:noFill/>
          <a:ln/>
        </p:spPr>
        <p:txBody>
          <a:bodyPr wrap="square" lIns="0" tIns="0" rIns="0" bIns="0" rtlCol="0" anchor="ctr"/>
          <a:lstStyle/>
          <a:p>
            <a:pPr algn="ctr" indent="0" marL="0">
              <a:buNone/>
            </a:pPr>
            <a:r>
              <a:rPr lang="en-US" sz="950" dirty="0">
                <a:solidFill>
                  <a:srgbClr val="878D9C"/>
                </a:solidFill>
                <a:latin typeface="Courier New" pitchFamily="34" charset="0"/>
                <a:ea typeface="Courier New" pitchFamily="34" charset="-122"/>
                <a:cs typeface="Courier New" pitchFamily="34" charset="-120"/>
              </a:rPr>
              <a:t>sanidhya_awasthi</a:t>
            </a:r>
            <a:endParaRPr lang="en-US" sz="950" dirty="0"/>
          </a:p>
        </p:txBody>
      </p:sp>
      <p:sp>
        <p:nvSpPr>
          <p:cNvPr id="32" name="Shape 29"/>
          <p:cNvSpPr/>
          <p:nvPr/>
        </p:nvSpPr>
        <p:spPr>
          <a:xfrm>
            <a:off x="9802368" y="2240280"/>
            <a:ext cx="1837944" cy="1234440"/>
          </a:xfrm>
          <a:prstGeom prst="roundRect">
            <a:avLst>
              <a:gd name="adj" fmla="val 5926"/>
            </a:avLst>
          </a:prstGeom>
          <a:solidFill>
            <a:srgbClr val="FFFFFF"/>
          </a:solidFill>
          <a:ln w="12700">
            <a:solidFill>
              <a:srgbClr val="E2E4EC"/>
            </a:solidFill>
            <a:prstDash val="solid"/>
          </a:ln>
          <a:effectLst>
            <a:outerShdw sx="100000" sy="100000" kx="0" ky="0" algn="bl" rotWithShape="0" blurRad="101600" dist="25400" dir="5400000">
              <a:srgbClr val="14161C">
                <a:alpha val="8000"/>
              </a:srgbClr>
            </a:outerShdw>
          </a:effectLst>
        </p:spPr>
      </p:sp>
      <p:sp>
        <p:nvSpPr>
          <p:cNvPr id="33" name="Shape 30"/>
          <p:cNvSpPr/>
          <p:nvPr/>
        </p:nvSpPr>
        <p:spPr>
          <a:xfrm>
            <a:off x="10465308" y="2359152"/>
            <a:ext cx="512064" cy="512064"/>
          </a:xfrm>
          <a:prstGeom prst="ellipse">
            <a:avLst/>
          </a:prstGeom>
          <a:solidFill>
            <a:srgbClr val="EEEEFC"/>
          </a:solidFill>
          <a:ln w="12700">
            <a:solidFill>
              <a:srgbClr val="C3C5F4"/>
            </a:solidFill>
            <a:prstDash val="solid"/>
          </a:ln>
        </p:spPr>
      </p:sp>
      <p:sp>
        <p:nvSpPr>
          <p:cNvPr id="34" name="Text 31"/>
          <p:cNvSpPr txBox="1"/>
          <p:nvPr/>
        </p:nvSpPr>
        <p:spPr>
          <a:xfrm>
            <a:off x="10465308" y="2359152"/>
            <a:ext cx="512064" cy="512064"/>
          </a:xfrm>
          <a:prstGeom prst="rect">
            <a:avLst/>
          </a:prstGeom>
          <a:noFill/>
          <a:ln/>
        </p:spPr>
        <p:txBody>
          <a:bodyPr wrap="square" lIns="0" tIns="0" rIns="0" bIns="0" rtlCol="0" anchor="ctr"/>
          <a:lstStyle/>
          <a:p>
            <a:pPr algn="ctr" indent="0" marL="0">
              <a:buNone/>
            </a:pPr>
            <a:r>
              <a:rPr lang="en-US" sz="1300" b="1" dirty="0">
                <a:solidFill>
                  <a:srgbClr val="5457E0"/>
                </a:solidFill>
                <a:latin typeface="Arial" pitchFamily="34" charset="0"/>
                <a:ea typeface="Arial" pitchFamily="34" charset="-122"/>
                <a:cs typeface="Arial" pitchFamily="34" charset="-120"/>
              </a:rPr>
              <a:t>RS</a:t>
            </a:r>
            <a:endParaRPr lang="en-US" sz="1300" dirty="0"/>
          </a:p>
        </p:txBody>
      </p:sp>
      <p:sp>
        <p:nvSpPr>
          <p:cNvPr id="35" name="Text 32"/>
          <p:cNvSpPr txBox="1"/>
          <p:nvPr/>
        </p:nvSpPr>
        <p:spPr>
          <a:xfrm>
            <a:off x="9875520" y="2907792"/>
            <a:ext cx="1691640" cy="274320"/>
          </a:xfrm>
          <a:prstGeom prst="rect">
            <a:avLst/>
          </a:prstGeom>
          <a:noFill/>
          <a:ln/>
        </p:spPr>
        <p:txBody>
          <a:bodyPr wrap="square" lIns="0" tIns="0" rIns="0" bIns="0" rtlCol="0" anchor="ctr"/>
          <a:lstStyle/>
          <a:p>
            <a:pPr algn="ctr" indent="0" marL="0">
              <a:buNone/>
            </a:pPr>
            <a:r>
              <a:rPr lang="en-US" sz="1150" b="1" dirty="0">
                <a:solidFill>
                  <a:srgbClr val="14161C"/>
                </a:solidFill>
                <a:latin typeface="Arial" pitchFamily="34" charset="0"/>
                <a:ea typeface="Arial" pitchFamily="34" charset="-122"/>
                <a:cs typeface="Arial" pitchFamily="34" charset="-120"/>
              </a:rPr>
              <a:t>Raghav Sonchhatra</a:t>
            </a:r>
            <a:endParaRPr lang="en-US" sz="1150" dirty="0"/>
          </a:p>
        </p:txBody>
      </p:sp>
      <p:sp>
        <p:nvSpPr>
          <p:cNvPr id="36" name="Text 33"/>
          <p:cNvSpPr txBox="1"/>
          <p:nvPr/>
        </p:nvSpPr>
        <p:spPr>
          <a:xfrm>
            <a:off x="9875520" y="3163824"/>
            <a:ext cx="1691640" cy="237744"/>
          </a:xfrm>
          <a:prstGeom prst="rect">
            <a:avLst/>
          </a:prstGeom>
          <a:noFill/>
          <a:ln/>
        </p:spPr>
        <p:txBody>
          <a:bodyPr wrap="square" lIns="0" tIns="0" rIns="0" bIns="0" rtlCol="0" anchor="ctr"/>
          <a:lstStyle/>
          <a:p>
            <a:pPr algn="ctr" indent="0" marL="0">
              <a:buNone/>
            </a:pPr>
            <a:r>
              <a:rPr lang="en-US" sz="950" dirty="0">
                <a:solidFill>
                  <a:srgbClr val="878D9C"/>
                </a:solidFill>
                <a:latin typeface="Courier New" pitchFamily="34" charset="0"/>
                <a:ea typeface="Courier New" pitchFamily="34" charset="-122"/>
                <a:cs typeface="Courier New" pitchFamily="34" charset="-120"/>
              </a:rPr>
              <a:t>raghav18</a:t>
            </a:r>
            <a:endParaRPr lang="en-US" sz="950" dirty="0"/>
          </a:p>
        </p:txBody>
      </p:sp>
      <p:sp>
        <p:nvSpPr>
          <p:cNvPr id="37" name="Shape 34"/>
          <p:cNvSpPr/>
          <p:nvPr/>
        </p:nvSpPr>
        <p:spPr>
          <a:xfrm>
            <a:off x="5852160" y="3657600"/>
            <a:ext cx="5788152" cy="2926080"/>
          </a:xfrm>
          <a:prstGeom prst="roundRect">
            <a:avLst>
              <a:gd name="adj" fmla="val 2500"/>
            </a:avLst>
          </a:prstGeom>
          <a:solidFill>
            <a:srgbClr val="FFFFFF"/>
          </a:solidFill>
          <a:ln w="12700">
            <a:solidFill>
              <a:srgbClr val="E2E4EC"/>
            </a:solidFill>
            <a:prstDash val="solid"/>
          </a:ln>
          <a:effectLst>
            <a:outerShdw sx="100000" sy="100000" kx="0" ky="0" algn="bl" rotWithShape="0" blurRad="101600" dist="25400" dir="5400000">
              <a:srgbClr val="14161C">
                <a:alpha val="8000"/>
              </a:srgbClr>
            </a:outerShdw>
          </a:effectLst>
        </p:spPr>
      </p:sp>
      <p:sp>
        <p:nvSpPr>
          <p:cNvPr id="38" name="Text 35"/>
          <p:cNvSpPr txBox="1"/>
          <p:nvPr/>
        </p:nvSpPr>
        <p:spPr>
          <a:xfrm>
            <a:off x="6053328" y="3767328"/>
            <a:ext cx="5394960" cy="274320"/>
          </a:xfrm>
          <a:prstGeom prst="rect">
            <a:avLst/>
          </a:prstGeom>
          <a:noFill/>
          <a:ln/>
        </p:spPr>
        <p:txBody>
          <a:bodyPr wrap="square" lIns="0" tIns="0" rIns="0" bIns="0" rtlCol="0" anchor="ctr"/>
          <a:lstStyle/>
          <a:p>
            <a:pPr indent="0" marL="0">
              <a:buNone/>
            </a:pPr>
            <a:r>
              <a:rPr lang="en-US" sz="1050" b="1" spc="200" kern="0" dirty="0">
                <a:solidFill>
                  <a:srgbClr val="5457E0"/>
                </a:solidFill>
                <a:latin typeface="Arial" pitchFamily="34" charset="0"/>
                <a:ea typeface="Arial" pitchFamily="34" charset="-122"/>
                <a:cs typeface="Arial" pitchFamily="34" charset="-120"/>
              </a:rPr>
              <a:t>SUBMISSION</a:t>
            </a:r>
            <a:endParaRPr lang="en-US" sz="1050" dirty="0"/>
          </a:p>
        </p:txBody>
      </p:sp>
      <p:sp>
        <p:nvSpPr>
          <p:cNvPr id="39" name="Text 36"/>
          <p:cNvSpPr txBox="1"/>
          <p:nvPr/>
        </p:nvSpPr>
        <p:spPr>
          <a:xfrm>
            <a:off x="6053328" y="4069080"/>
            <a:ext cx="5394960" cy="457200"/>
          </a:xfrm>
          <a:prstGeom prst="rect">
            <a:avLst/>
          </a:prstGeom>
          <a:noFill/>
          <a:ln/>
        </p:spPr>
        <p:txBody>
          <a:bodyPr wrap="square" lIns="0" tIns="0" rIns="0" bIns="0" rtlCol="0" anchor="ctr"/>
          <a:lstStyle/>
          <a:p>
            <a:pPr indent="0" marL="0">
              <a:buNone/>
            </a:pPr>
            <a:r>
              <a:rPr lang="en-US" sz="2200" b="1" dirty="0">
                <a:solidFill>
                  <a:srgbClr val="14161C"/>
                </a:solidFill>
                <a:latin typeface="Arial" pitchFamily="34" charset="0"/>
                <a:ea typeface="Arial" pitchFamily="34" charset="-122"/>
                <a:cs typeface="Arial" pitchFamily="34" charset="-120"/>
              </a:rPr>
              <a:t>Forgeflow</a:t>
            </a:r>
            <a:endParaRPr lang="en-US" sz="2200" dirty="0"/>
          </a:p>
        </p:txBody>
      </p:sp>
      <p:sp>
        <p:nvSpPr>
          <p:cNvPr id="40" name="Text 37"/>
          <p:cNvSpPr txBox="1"/>
          <p:nvPr/>
        </p:nvSpPr>
        <p:spPr>
          <a:xfrm>
            <a:off x="6053328" y="4572000"/>
            <a:ext cx="5394960" cy="1097280"/>
          </a:xfrm>
          <a:prstGeom prst="rect">
            <a:avLst/>
          </a:prstGeom>
          <a:noFill/>
          <a:ln/>
        </p:spPr>
        <p:txBody>
          <a:bodyPr wrap="square" lIns="0" tIns="0" rIns="0" bIns="0" rtlCol="0" anchor="t"/>
          <a:lstStyle/>
          <a:p>
            <a:pPr indent="0" marL="0">
              <a:buNone/>
            </a:pPr>
            <a:r>
              <a:rPr lang="en-US" sz="1250" i="1" dirty="0">
                <a:solidFill>
                  <a:srgbClr val="565C6B"/>
                </a:solidFill>
                <a:latin typeface="Arial" pitchFamily="34" charset="0"/>
                <a:ea typeface="Arial" pitchFamily="34" charset="-122"/>
                <a:cs typeface="Arial" pitchFamily="34" charset="-120"/>
              </a:rPr>
              <a:t>“ForgeFlow turns a web-app idea into a verified live URL. It writes tests from your acceptance criteria, fixes failures in a bounded, diff-aware repair loop …”</a:t>
            </a:r>
            <a:endParaRPr lang="en-US" sz="1250" dirty="0"/>
          </a:p>
        </p:txBody>
      </p:sp>
      <p:sp>
        <p:nvSpPr>
          <p:cNvPr id="41" name="Shape 38"/>
          <p:cNvSpPr/>
          <p:nvPr/>
        </p:nvSpPr>
        <p:spPr>
          <a:xfrm>
            <a:off x="6053328" y="5833872"/>
            <a:ext cx="2286000" cy="457200"/>
          </a:xfrm>
          <a:prstGeom prst="roundRect">
            <a:avLst>
              <a:gd name="adj" fmla="val 16000"/>
            </a:avLst>
          </a:prstGeom>
          <a:solidFill>
            <a:srgbClr val="E8F3EC"/>
          </a:solidFill>
          <a:ln w="12700">
            <a:solidFill>
              <a:srgbClr val="A9D3B8"/>
            </a:solidFill>
            <a:prstDash val="solid"/>
          </a:ln>
        </p:spPr>
      </p:sp>
      <p:sp>
        <p:nvSpPr>
          <p:cNvPr id="42" name="Text 39"/>
          <p:cNvSpPr txBox="1"/>
          <p:nvPr/>
        </p:nvSpPr>
        <p:spPr>
          <a:xfrm>
            <a:off x="6053328" y="5833872"/>
            <a:ext cx="2286000" cy="457200"/>
          </a:xfrm>
          <a:prstGeom prst="rect">
            <a:avLst/>
          </a:prstGeom>
          <a:noFill/>
          <a:ln/>
        </p:spPr>
        <p:txBody>
          <a:bodyPr wrap="square" lIns="0" tIns="0" rIns="0" bIns="0" rtlCol="0" anchor="ctr"/>
          <a:lstStyle/>
          <a:p>
            <a:pPr algn="ctr" indent="0" marL="0">
              <a:buNone/>
            </a:pPr>
            <a:r>
              <a:rPr lang="en-US" sz="1150" b="1" dirty="0">
                <a:solidFill>
                  <a:srgbClr val="15803D"/>
                </a:solidFill>
                <a:latin typeface="Arial" pitchFamily="34" charset="0"/>
                <a:ea typeface="Arial" pitchFamily="34" charset="-122"/>
                <a:cs typeface="Arial" pitchFamily="34" charset="-120"/>
              </a:rPr>
              <a:t>Project submitted</a:t>
            </a:r>
            <a:endParaRPr lang="en-US" sz="1150" dirty="0"/>
          </a:p>
        </p:txBody>
      </p:sp>
      <p:sp>
        <p:nvSpPr>
          <p:cNvPr id="43" name="Text 40"/>
          <p:cNvSpPr txBox="1"/>
          <p:nvPr/>
        </p:nvSpPr>
        <p:spPr>
          <a:xfrm>
            <a:off x="8503920" y="5833872"/>
            <a:ext cx="3017520" cy="457200"/>
          </a:xfrm>
          <a:prstGeom prst="rect">
            <a:avLst/>
          </a:prstGeom>
          <a:noFill/>
          <a:ln/>
        </p:spPr>
        <p:txBody>
          <a:bodyPr wrap="square" lIns="0" tIns="0" rIns="0" bIns="0" rtlCol="0" anchor="ctr"/>
          <a:lstStyle/>
          <a:p>
            <a:pPr indent="0" marL="0">
              <a:buNone/>
            </a:pPr>
            <a:r>
              <a:rPr lang="en-US" sz="1050" dirty="0">
                <a:solidFill>
                  <a:srgbClr val="878D9C"/>
                </a:solidFill>
                <a:latin typeface="Arial" pitchFamily="34" charset="0"/>
                <a:ea typeface="Arial" pitchFamily="34" charset="-122"/>
                <a:cs typeface="Arial" pitchFamily="34" charset="-120"/>
              </a:rPr>
              <a:t>Event finished · proof on lablab.ai team page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ForgeFlow — CA-2 DevOps</dc:title>
  <dc:subject>PptxGenJS Presentation</dc:subject>
  <dc:creator>Sanidhya Awasthi</dc:creator>
  <cp:lastModifiedBy>Sanidhya Awasthi</cp:lastModifiedBy>
  <cp:revision>1</cp:revision>
  <dcterms:created xsi:type="dcterms:W3CDTF">2026-10-01T16:57:05Z</dcterms:created>
  <dcterms:modified xsi:type="dcterms:W3CDTF">2026-10-01T16:57:05Z</dcterms:modified>
</cp:coreProperties>
</file>